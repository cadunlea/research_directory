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papers reviewed. Three from the AIM line, one from the Thessaloniki group, one survey, and two from outside the field for architectural ideas.
The lab moved to raw time series input in 2022. The previous in house model used an FFT magnitude spectrum, which was a step away from that. My ablation measures the cost under matched conditions.
Model B is below the 2022 ResNet figure, but the data are very different, 7.8 hours from 20 annotated sessions against 372 hours from 17 participants. The fair comparison is to train that ResNet on the new database under the same harness.
The attention and chew count components did not separate from noise. The representation did nearly all of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7315200" cy="640080"/>
          </a:xfrm>
          <a:prstGeom prst="rect">
            <a:avLst/>
          </a:prstGeom>
          <a:noFill/>
          <a:ln/>
        </p:spPr>
        <p:txBody>
          <a:bodyPr wrap="square" lIns="0" tIns="0" rIns="0" bIns="0" rtlCol="0" anchor="ctr"/>
          <a:lstStyle/>
          <a:p>
            <a:pPr indent="0" marL="0">
              <a:buNone/>
            </a:pPr>
            <a:r>
              <a:rPr lang="en-US" sz="3600" b="1" dirty="0">
                <a:solidFill>
                  <a:srgbClr val="1F3864"/>
                </a:solidFill>
                <a:latin typeface="Calibri" pitchFamily="34" charset="0"/>
                <a:ea typeface="Calibri" pitchFamily="34" charset="-122"/>
                <a:cs typeface="Calibri" pitchFamily="34" charset="-120"/>
              </a:rPr>
              <a:t>Literature Review</a:t>
            </a:r>
            <a:endParaRPr lang="en-US" sz="3600" dirty="0"/>
          </a:p>
        </p:txBody>
      </p:sp>
      <p:sp>
        <p:nvSpPr>
          <p:cNvPr id="3" name="Text 1"/>
          <p:cNvSpPr txBox="1"/>
          <p:nvPr/>
        </p:nvSpPr>
        <p:spPr>
          <a:xfrm>
            <a:off x="457200" y="932688"/>
            <a:ext cx="7772400" cy="365760"/>
          </a:xfrm>
          <a:prstGeom prst="rect">
            <a:avLst/>
          </a:prstGeom>
          <a:noFill/>
          <a:ln/>
        </p:spPr>
        <p:txBody>
          <a:bodyPr wrap="square" lIns="0" tIns="0" rIns="0" bIns="0" rtlCol="0" anchor="ctr"/>
          <a:lstStyle/>
          <a:p>
            <a:pPr indent="0" marL="0">
              <a:buNone/>
            </a:pPr>
            <a:r>
              <a:rPr lang="en-US" sz="1600" dirty="0">
                <a:solidFill>
                  <a:srgbClr val="2E5597"/>
                </a:solidFill>
                <a:latin typeface="Calibri" pitchFamily="34" charset="0"/>
                <a:ea typeface="Calibri" pitchFamily="34" charset="-122"/>
                <a:cs typeface="Calibri" pitchFamily="34" charset="-120"/>
              </a:rPr>
              <a:t>Where the AIM work has been, and where Model B sits</a:t>
            </a:r>
            <a:endParaRPr lang="en-US" sz="16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7406640" cy="914400"/>
        </p:xfrm>
        <a:graphic>
          <a:graphicData uri="http://schemas.openxmlformats.org/drawingml/2006/table">
            <a:tbl>
              <a:tblPr/>
              <a:tblGrid>
                <a:gridCol w="2011680"/>
                <a:gridCol w="1828800"/>
                <a:gridCol w="1508760"/>
                <a:gridCol w="1234440"/>
                <a:gridCol w="82296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Study</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1F386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Input</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1F386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1F386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Validation</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1F386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1F3864"/>
                    </a:solidFill>
                  </a:tcPr>
                </a:tc>
              </a:tr>
              <a:tr h="475488">
                <a:tc>
                  <a:txBody>
                    <a:bodyPr/>
                    <a:lstStyle/>
                    <a:p>
                      <a:pPr algn="l" indent="0" marL="0">
                        <a:buNone/>
                      </a:pPr>
                      <a:r>
                        <a:rPr lang="en-US" sz="1300" b="1" dirty="0">
                          <a:solidFill>
                            <a:srgbClr val="222222"/>
                          </a:solidFill>
                          <a:latin typeface="Calibri" pitchFamily="34" charset="0"/>
                          <a:ea typeface="Calibri" pitchFamily="34" charset="-122"/>
                          <a:cs typeface="Calibri" pitchFamily="34" charset="-120"/>
                        </a:rPr>
                        <a:t>Doulah et al. 2021</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Handcrafted features</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Linear SVM</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LOSO, 30</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0.818</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r>
              <a:tr h="475488">
                <a:tc>
                  <a:txBody>
                    <a:bodyPr/>
                    <a:lstStyle/>
                    <a:p>
                      <a:pPr algn="l" indent="0" marL="0">
                        <a:buNone/>
                      </a:pPr>
                      <a:r>
                        <a:rPr lang="en-US" sz="1300" b="1" dirty="0">
                          <a:solidFill>
                            <a:srgbClr val="222222"/>
                          </a:solidFill>
                          <a:latin typeface="Calibri" pitchFamily="34" charset="0"/>
                          <a:ea typeface="Calibri" pitchFamily="34" charset="-122"/>
                          <a:cs typeface="Calibri" pitchFamily="34" charset="-120"/>
                        </a:rPr>
                        <a:t>Ghosh and Sazonov 2022</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Raw time series</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ResNet</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LOSO, 17</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0.906</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r>
              <a:tr h="475488">
                <a:tc>
                  <a:txBody>
                    <a:bodyPr/>
                    <a:lstStyle/>
                    <a:p>
                      <a:pPr algn="l" indent="0" marL="0">
                        <a:buNone/>
                      </a:pPr>
                      <a:r>
                        <a:rPr lang="en-US" sz="1300" b="1" dirty="0">
                          <a:solidFill>
                            <a:srgbClr val="222222"/>
                          </a:solidFill>
                          <a:latin typeface="Calibri" pitchFamily="34" charset="0"/>
                          <a:ea typeface="Calibri" pitchFamily="34" charset="-122"/>
                          <a:cs typeface="Calibri" pitchFamily="34" charset="-120"/>
                        </a:rPr>
                        <a:t>Ghosh et al. 2024</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Wavelet scalogram</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2D CNN</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LOSO, 30</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0.776</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r>
              <a:tr h="475488">
                <a:tc>
                  <a:txBody>
                    <a:bodyPr/>
                    <a:lstStyle/>
                    <a:p>
                      <a:pPr algn="l" indent="0" marL="0">
                        <a:buNone/>
                      </a:pPr>
                      <a:r>
                        <a:rPr lang="en-US" sz="1300" b="1" dirty="0">
                          <a:solidFill>
                            <a:srgbClr val="222222"/>
                          </a:solidFill>
                          <a:latin typeface="Calibri" pitchFamily="34" charset="0"/>
                          <a:ea typeface="Calibri" pitchFamily="34" charset="-122"/>
                          <a:cs typeface="Calibri" pitchFamily="34" charset="-120"/>
                        </a:rPr>
                        <a:t>Diou et al. 2022</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Raw wrist IMU, bites</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CNN and LSTM</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LOSO</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0.923</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r>
              <a:tr h="475488">
                <a:tc>
                  <a:txBody>
                    <a:bodyPr/>
                    <a:lstStyle/>
                    <a:p>
                      <a:pPr algn="l" indent="0" marL="0">
                        <a:buNone/>
                      </a:pPr>
                      <a:r>
                        <a:rPr lang="en-US" sz="1300" b="1" dirty="0">
                          <a:solidFill>
                            <a:srgbClr val="222222"/>
                          </a:solidFill>
                          <a:latin typeface="Calibri" pitchFamily="34" charset="0"/>
                          <a:ea typeface="Calibri" pitchFamily="34" charset="-122"/>
                          <a:cs typeface="Calibri" pitchFamily="34" charset="-120"/>
                        </a:rPr>
                        <a:t>Model A, previous design</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FFT spectrum</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1D CNN</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4 fold</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0.779</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r>
              <a:tr h="475488">
                <a:tc>
                  <a:txBody>
                    <a:bodyPr/>
                    <a:lstStyle/>
                    <a:p>
                      <a:pPr algn="l" indent="0" marL="0">
                        <a:buNone/>
                      </a:pPr>
                      <a:r>
                        <a:rPr lang="en-US" sz="1300" b="1" dirty="0">
                          <a:solidFill>
                            <a:srgbClr val="1F3864"/>
                          </a:solidFill>
                          <a:latin typeface="Calibri" pitchFamily="34" charset="0"/>
                          <a:ea typeface="Calibri" pitchFamily="34" charset="-122"/>
                          <a:cs typeface="Calibri" pitchFamily="34" charset="-120"/>
                        </a:rPr>
                        <a:t>Model B, this work</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E8EEF7"/>
                    </a:solidFill>
                  </a:tcPr>
                </a:tc>
                <a:tc>
                  <a:txBody>
                    <a:bodyPr/>
                    <a:lstStyle/>
                    <a:p>
                      <a:pPr algn="l" indent="0" marL="0">
                        <a:buNone/>
                      </a:pPr>
                      <a:r>
                        <a:rPr lang="en-US" sz="1300" b="1" dirty="0">
                          <a:solidFill>
                            <a:srgbClr val="1F3864"/>
                          </a:solidFill>
                          <a:latin typeface="Calibri" pitchFamily="34" charset="0"/>
                          <a:ea typeface="Calibri" pitchFamily="34" charset="-122"/>
                          <a:cs typeface="Calibri" pitchFamily="34" charset="-120"/>
                        </a:rPr>
                        <a:t>Band passed time series</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E8EEF7"/>
                    </a:solidFill>
                  </a:tcPr>
                </a:tc>
                <a:tc>
                  <a:txBody>
                    <a:bodyPr/>
                    <a:lstStyle/>
                    <a:p>
                      <a:pPr algn="l" indent="0" marL="0">
                        <a:buNone/>
                      </a:pPr>
                      <a:r>
                        <a:rPr lang="en-US" sz="1300" b="1" dirty="0">
                          <a:solidFill>
                            <a:srgbClr val="1F3864"/>
                          </a:solidFill>
                          <a:latin typeface="Calibri" pitchFamily="34" charset="0"/>
                          <a:ea typeface="Calibri" pitchFamily="34" charset="-122"/>
                          <a:cs typeface="Calibri" pitchFamily="34" charset="-120"/>
                        </a:rPr>
                        <a:t>1D CNN, attention</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E8EEF7"/>
                    </a:solidFill>
                  </a:tcPr>
                </a:tc>
                <a:tc>
                  <a:txBody>
                    <a:bodyPr/>
                    <a:lstStyle/>
                    <a:p>
                      <a:pPr algn="l" indent="0" marL="0">
                        <a:buNone/>
                      </a:pPr>
                      <a:r>
                        <a:rPr lang="en-US" sz="1300" b="1" dirty="0">
                          <a:solidFill>
                            <a:srgbClr val="1F3864"/>
                          </a:solidFill>
                          <a:latin typeface="Calibri" pitchFamily="34" charset="0"/>
                          <a:ea typeface="Calibri" pitchFamily="34" charset="-122"/>
                          <a:cs typeface="Calibri" pitchFamily="34" charset="-120"/>
                        </a:rPr>
                        <a:t>4 fold</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E8EEF7"/>
                    </a:solidFill>
                  </a:tcPr>
                </a:tc>
                <a:tc>
                  <a:txBody>
                    <a:bodyPr/>
                    <a:lstStyle/>
                    <a:p>
                      <a:pPr algn="ctr" indent="0" marL="0">
                        <a:buNone/>
                      </a:pPr>
                      <a:r>
                        <a:rPr lang="en-US" sz="1300" b="1" dirty="0">
                          <a:solidFill>
                            <a:srgbClr val="1F3864"/>
                          </a:solidFill>
                          <a:latin typeface="Calibri" pitchFamily="34" charset="0"/>
                          <a:ea typeface="Calibri" pitchFamily="34" charset="-122"/>
                          <a:cs typeface="Calibri" pitchFamily="34" charset="-120"/>
                        </a:rPr>
                        <a:t>0.854</a:t>
                      </a:r>
                      <a:endParaRPr lang="en-US" sz="1300" dirty="0">
                        <a:latin typeface="Calibri" charset="0"/>
                        <a:ea typeface="Calibri" charset="0"/>
                        <a:cs typeface="Calibri" charset="0"/>
                      </a:endParaRPr>
                    </a:p>
                  </a:txBody>
                  <a:tcPr marL="73152" marR="73152"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E8EEF7"/>
                    </a:solidFill>
                  </a:tcPr>
                </a:tc>
              </a:tr>
            </a:tbl>
          </a:graphicData>
        </a:graphic>
      </p:graphicFrame>
      <p:sp>
        <p:nvSpPr>
          <p:cNvPr id="5" name="Text 2"/>
          <p:cNvSpPr txBox="1"/>
          <p:nvPr/>
        </p:nvSpPr>
        <p:spPr>
          <a:xfrm>
            <a:off x="457200" y="5074920"/>
            <a:ext cx="7406640" cy="457200"/>
          </a:xfrm>
          <a:prstGeom prst="rect">
            <a:avLst/>
          </a:prstGeom>
          <a:noFill/>
          <a:ln/>
        </p:spPr>
        <p:txBody>
          <a:bodyPr wrap="square" lIns="0" tIns="0" rIns="0" bIns="0" rtlCol="0" anchor="ctr"/>
          <a:lstStyle/>
          <a:p>
            <a:pPr indent="0" marL="0">
              <a:buNone/>
            </a:pPr>
            <a:r>
              <a:rPr lang="en-US" sz="1100" i="1" dirty="0">
                <a:solidFill>
                  <a:srgbClr val="5A6270"/>
                </a:solidFill>
                <a:latin typeface="Calibri" pitchFamily="34" charset="0"/>
                <a:ea typeface="Calibri" pitchFamily="34" charset="-122"/>
                <a:cs typeface="Calibri" pitchFamily="34" charset="-120"/>
              </a:rPr>
              <a:t>Different datasets, labels and validation schemes. Figures are not directly comparable. Diou et al. is bite detection on a smartwatch.</a:t>
            </a:r>
            <a:endParaRPr lang="en-US" sz="1100" dirty="0"/>
          </a:p>
        </p:txBody>
      </p:sp>
      <p:sp>
        <p:nvSpPr>
          <p:cNvPr id="6" name="Shape 3"/>
          <p:cNvSpPr/>
          <p:nvPr/>
        </p:nvSpPr>
        <p:spPr>
          <a:xfrm>
            <a:off x="8183880" y="1600200"/>
            <a:ext cx="3566160" cy="1234440"/>
          </a:xfrm>
          <a:prstGeom prst="roundRect">
            <a:avLst>
              <a:gd name="adj" fmla="val 5926"/>
            </a:avLst>
          </a:prstGeom>
          <a:solidFill>
            <a:srgbClr val="E8EEF7"/>
          </a:solidFill>
          <a:ln w="12700">
            <a:solidFill>
              <a:srgbClr val="E8EEF7"/>
            </a:solidFill>
            <a:prstDash val="solid"/>
          </a:ln>
        </p:spPr>
      </p:sp>
      <p:sp>
        <p:nvSpPr>
          <p:cNvPr id="7" name="Shape 4"/>
          <p:cNvSpPr/>
          <p:nvPr/>
        </p:nvSpPr>
        <p:spPr>
          <a:xfrm>
            <a:off x="8339328" y="1755648"/>
            <a:ext cx="384048" cy="384048"/>
          </a:xfrm>
          <a:prstGeom prst="ellipse">
            <a:avLst/>
          </a:prstGeom>
          <a:solidFill>
            <a:srgbClr val="1F3864"/>
          </a:solidFill>
          <a:ln w="12700">
            <a:solidFill>
              <a:srgbClr val="1F3864"/>
            </a:solidFill>
            <a:prstDash val="solid"/>
          </a:ln>
        </p:spPr>
      </p:sp>
      <p:sp>
        <p:nvSpPr>
          <p:cNvPr id="8" name="Text 5"/>
          <p:cNvSpPr txBox="1"/>
          <p:nvPr/>
        </p:nvSpPr>
        <p:spPr>
          <a:xfrm>
            <a:off x="8339328" y="1755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8851392" y="1728216"/>
            <a:ext cx="2788920" cy="420624"/>
          </a:xfrm>
          <a:prstGeom prst="rect">
            <a:avLst/>
          </a:prstGeom>
          <a:noFill/>
          <a:ln/>
        </p:spPr>
        <p:txBody>
          <a:bodyPr wrap="square" lIns="0" tIns="0" rIns="0" bIns="0" rtlCol="0" anchor="ctr"/>
          <a:lstStyle/>
          <a:p>
            <a:pPr indent="0" marL="0">
              <a:buNone/>
            </a:pPr>
            <a:r>
              <a:rPr lang="en-US" sz="1600" b="1" dirty="0">
                <a:solidFill>
                  <a:srgbClr val="1F3864"/>
                </a:solidFill>
                <a:latin typeface="Calibri" pitchFamily="34" charset="0"/>
                <a:ea typeface="Calibri" pitchFamily="34" charset="-122"/>
                <a:cs typeface="Calibri" pitchFamily="34" charset="-120"/>
              </a:rPr>
              <a:t>Established</a:t>
            </a:r>
            <a:endParaRPr lang="en-US" sz="1600" dirty="0"/>
          </a:p>
        </p:txBody>
      </p:sp>
      <p:sp>
        <p:nvSpPr>
          <p:cNvPr id="10" name="Text 7"/>
          <p:cNvSpPr txBox="1"/>
          <p:nvPr/>
        </p:nvSpPr>
        <p:spPr>
          <a:xfrm>
            <a:off x="8339328" y="2167128"/>
            <a:ext cx="3291840" cy="621792"/>
          </a:xfrm>
          <a:prstGeom prst="rect">
            <a:avLst/>
          </a:prstGeom>
          <a:noFill/>
          <a:ln/>
        </p:spPr>
        <p:txBody>
          <a:bodyPr wrap="square" lIns="0" tIns="0" rIns="0" bIns="0" rtlCol="0" anchor="t"/>
          <a:lstStyle/>
          <a:p>
            <a:pPr indent="0" marL="0">
              <a:buNone/>
            </a:pPr>
            <a:r>
              <a:rPr lang="en-US" sz="1200" dirty="0">
                <a:solidFill>
                  <a:srgbClr val="333333"/>
                </a:solidFill>
                <a:latin typeface="Calibri" pitchFamily="34" charset="0"/>
                <a:ea typeface="Calibri" pitchFamily="34" charset="-122"/>
                <a:cs typeface="Calibri" pitchFamily="34" charset="-120"/>
              </a:rPr>
              <a:t>Raw time series input on AIM was introduced by Ghosh and Sazonov in 2022.</a:t>
            </a:r>
            <a:endParaRPr lang="en-US" sz="1200" dirty="0"/>
          </a:p>
        </p:txBody>
      </p:sp>
      <p:sp>
        <p:nvSpPr>
          <p:cNvPr id="11" name="Shape 8"/>
          <p:cNvSpPr/>
          <p:nvPr/>
        </p:nvSpPr>
        <p:spPr>
          <a:xfrm>
            <a:off x="8183880" y="2926080"/>
            <a:ext cx="3566160" cy="1234440"/>
          </a:xfrm>
          <a:prstGeom prst="roundRect">
            <a:avLst>
              <a:gd name="adj" fmla="val 5926"/>
            </a:avLst>
          </a:prstGeom>
          <a:solidFill>
            <a:srgbClr val="E8EEF7"/>
          </a:solidFill>
          <a:ln w="12700">
            <a:solidFill>
              <a:srgbClr val="E8EEF7"/>
            </a:solidFill>
            <a:prstDash val="solid"/>
          </a:ln>
        </p:spPr>
      </p:sp>
      <p:sp>
        <p:nvSpPr>
          <p:cNvPr id="12" name="Shape 9"/>
          <p:cNvSpPr/>
          <p:nvPr/>
        </p:nvSpPr>
        <p:spPr>
          <a:xfrm>
            <a:off x="8339328" y="3081528"/>
            <a:ext cx="384048" cy="384048"/>
          </a:xfrm>
          <a:prstGeom prst="ellipse">
            <a:avLst/>
          </a:prstGeom>
          <a:solidFill>
            <a:srgbClr val="1F3864"/>
          </a:solidFill>
          <a:ln w="12700">
            <a:solidFill>
              <a:srgbClr val="1F3864"/>
            </a:solidFill>
            <a:prstDash val="solid"/>
          </a:ln>
        </p:spPr>
      </p:sp>
      <p:sp>
        <p:nvSpPr>
          <p:cNvPr id="13" name="Text 10"/>
          <p:cNvSpPr txBox="1"/>
          <p:nvPr/>
        </p:nvSpPr>
        <p:spPr>
          <a:xfrm>
            <a:off x="8339328" y="3081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txBox="1"/>
          <p:nvPr/>
        </p:nvSpPr>
        <p:spPr>
          <a:xfrm>
            <a:off x="8851392" y="3054096"/>
            <a:ext cx="2788920" cy="420624"/>
          </a:xfrm>
          <a:prstGeom prst="rect">
            <a:avLst/>
          </a:prstGeom>
          <a:noFill/>
          <a:ln/>
        </p:spPr>
        <p:txBody>
          <a:bodyPr wrap="square" lIns="0" tIns="0" rIns="0" bIns="0" rtlCol="0" anchor="ctr"/>
          <a:lstStyle/>
          <a:p>
            <a:pPr indent="0" marL="0">
              <a:buNone/>
            </a:pPr>
            <a:r>
              <a:rPr lang="en-US" sz="1600" b="1" dirty="0">
                <a:solidFill>
                  <a:srgbClr val="1F3864"/>
                </a:solidFill>
                <a:latin typeface="Calibri" pitchFamily="34" charset="0"/>
                <a:ea typeface="Calibri" pitchFamily="34" charset="-122"/>
                <a:cs typeface="Calibri" pitchFamily="34" charset="-120"/>
              </a:rPr>
              <a:t>What this adds</a:t>
            </a:r>
            <a:endParaRPr lang="en-US" sz="1600" dirty="0"/>
          </a:p>
        </p:txBody>
      </p:sp>
      <p:sp>
        <p:nvSpPr>
          <p:cNvPr id="15" name="Text 12"/>
          <p:cNvSpPr txBox="1"/>
          <p:nvPr/>
        </p:nvSpPr>
        <p:spPr>
          <a:xfrm>
            <a:off x="8339328" y="3493008"/>
            <a:ext cx="3291840" cy="621792"/>
          </a:xfrm>
          <a:prstGeom prst="rect">
            <a:avLst/>
          </a:prstGeom>
          <a:noFill/>
          <a:ln/>
        </p:spPr>
        <p:txBody>
          <a:bodyPr wrap="square" lIns="0" tIns="0" rIns="0" bIns="0" rtlCol="0" anchor="t"/>
          <a:lstStyle/>
          <a:p>
            <a:pPr indent="0" marL="0">
              <a:buNone/>
            </a:pPr>
            <a:r>
              <a:rPr lang="en-US" sz="1200" dirty="0">
                <a:solidFill>
                  <a:srgbClr val="333333"/>
                </a:solidFill>
                <a:latin typeface="Calibri" pitchFamily="34" charset="0"/>
                <a:ea typeface="Calibri" pitchFamily="34" charset="-122"/>
                <a:cs typeface="Calibri" pitchFamily="34" charset="-120"/>
              </a:rPr>
              <a:t>A controlled ablation. Same architecture on FFT input loses 0.087 F1 and 0.180 precision.</a:t>
            </a:r>
            <a:endParaRPr lang="en-US" sz="1200" dirty="0"/>
          </a:p>
        </p:txBody>
      </p:sp>
      <p:sp>
        <p:nvSpPr>
          <p:cNvPr id="16" name="Shape 13"/>
          <p:cNvSpPr/>
          <p:nvPr/>
        </p:nvSpPr>
        <p:spPr>
          <a:xfrm>
            <a:off x="8183880" y="4251960"/>
            <a:ext cx="3566160" cy="1234440"/>
          </a:xfrm>
          <a:prstGeom prst="roundRect">
            <a:avLst>
              <a:gd name="adj" fmla="val 5926"/>
            </a:avLst>
          </a:prstGeom>
          <a:solidFill>
            <a:srgbClr val="E8EEF7"/>
          </a:solidFill>
          <a:ln w="12700">
            <a:solidFill>
              <a:srgbClr val="E8EEF7"/>
            </a:solidFill>
            <a:prstDash val="solid"/>
          </a:ln>
        </p:spPr>
      </p:sp>
      <p:sp>
        <p:nvSpPr>
          <p:cNvPr id="17" name="Shape 14"/>
          <p:cNvSpPr/>
          <p:nvPr/>
        </p:nvSpPr>
        <p:spPr>
          <a:xfrm>
            <a:off x="8339328" y="4407408"/>
            <a:ext cx="384048" cy="384048"/>
          </a:xfrm>
          <a:prstGeom prst="ellipse">
            <a:avLst/>
          </a:prstGeom>
          <a:solidFill>
            <a:srgbClr val="1F3864"/>
          </a:solidFill>
          <a:ln w="12700">
            <a:solidFill>
              <a:srgbClr val="1F3864"/>
            </a:solidFill>
            <a:prstDash val="solid"/>
          </a:ln>
        </p:spPr>
      </p:sp>
      <p:sp>
        <p:nvSpPr>
          <p:cNvPr id="18" name="Text 15"/>
          <p:cNvSpPr txBox="1"/>
          <p:nvPr/>
        </p:nvSpPr>
        <p:spPr>
          <a:xfrm>
            <a:off x="8339328" y="44074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8851392" y="4379976"/>
            <a:ext cx="2788920" cy="420624"/>
          </a:xfrm>
          <a:prstGeom prst="rect">
            <a:avLst/>
          </a:prstGeom>
          <a:noFill/>
          <a:ln/>
        </p:spPr>
        <p:txBody>
          <a:bodyPr wrap="square" lIns="0" tIns="0" rIns="0" bIns="0" rtlCol="0" anchor="ctr"/>
          <a:lstStyle/>
          <a:p>
            <a:pPr indent="0" marL="0">
              <a:buNone/>
            </a:pPr>
            <a:r>
              <a:rPr lang="en-US" sz="1600" b="1" dirty="0">
                <a:solidFill>
                  <a:srgbClr val="1F3864"/>
                </a:solidFill>
                <a:latin typeface="Calibri" pitchFamily="34" charset="0"/>
                <a:ea typeface="Calibri" pitchFamily="34" charset="-122"/>
                <a:cs typeface="Calibri" pitchFamily="34" charset="-120"/>
              </a:rPr>
              <a:t>Next</a:t>
            </a:r>
            <a:endParaRPr lang="en-US" sz="1600" dirty="0"/>
          </a:p>
        </p:txBody>
      </p:sp>
      <p:sp>
        <p:nvSpPr>
          <p:cNvPr id="20" name="Text 17"/>
          <p:cNvSpPr txBox="1"/>
          <p:nvPr/>
        </p:nvSpPr>
        <p:spPr>
          <a:xfrm>
            <a:off x="8339328" y="4818888"/>
            <a:ext cx="3291840" cy="621792"/>
          </a:xfrm>
          <a:prstGeom prst="rect">
            <a:avLst/>
          </a:prstGeom>
          <a:noFill/>
          <a:ln/>
        </p:spPr>
        <p:txBody>
          <a:bodyPr wrap="square" lIns="0" tIns="0" rIns="0" bIns="0" rtlCol="0" anchor="t"/>
          <a:lstStyle/>
          <a:p>
            <a:pPr indent="0" marL="0">
              <a:buNone/>
            </a:pPr>
            <a:r>
              <a:rPr lang="en-US" sz="1200" dirty="0">
                <a:solidFill>
                  <a:srgbClr val="333333"/>
                </a:solidFill>
                <a:latin typeface="Calibri" pitchFamily="34" charset="0"/>
                <a:ea typeface="Calibri" pitchFamily="34" charset="-122"/>
                <a:cs typeface="Calibri" pitchFamily="34" charset="-120"/>
              </a:rPr>
              <a:t>Reproduce the 2022 ResNet on the new database, then pretrain on the 41 unannotated sessions.</a:t>
            </a:r>
            <a:endParaRPr lang="en-US" sz="1200" dirty="0"/>
          </a:p>
        </p:txBody>
      </p:sp>
      <p:sp>
        <p:nvSpPr>
          <p:cNvPr id="21" name="Shape 18"/>
          <p:cNvSpPr/>
          <p:nvPr/>
        </p:nvSpPr>
        <p:spPr>
          <a:xfrm>
            <a:off x="457200" y="5669280"/>
            <a:ext cx="11292840" cy="731520"/>
          </a:xfrm>
          <a:prstGeom prst="roundRect">
            <a:avLst>
              <a:gd name="adj" fmla="val 10000"/>
            </a:avLst>
          </a:prstGeom>
          <a:solidFill>
            <a:srgbClr val="1F3864"/>
          </a:solidFill>
          <a:ln w="12700">
            <a:solidFill>
              <a:srgbClr val="1F3864"/>
            </a:solidFill>
            <a:prstDash val="solid"/>
          </a:ln>
        </p:spPr>
      </p:sp>
      <p:sp>
        <p:nvSpPr>
          <p:cNvPr id="22" name="Text 19"/>
          <p:cNvSpPr txBox="1"/>
          <p:nvPr/>
        </p:nvSpPr>
        <p:spPr>
          <a:xfrm>
            <a:off x="685800" y="5669280"/>
            <a:ext cx="10881360"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Recommendation   </a:t>
            </a:r>
            <a:pPr indent="0" marL="0">
              <a:buNone/>
            </a:pPr>
            <a:r>
              <a:rPr lang="en-US" sz="1500" dirty="0">
                <a:solidFill>
                  <a:srgbClr val="FFFFFF"/>
                </a:solidFill>
                <a:latin typeface="Calibri" pitchFamily="34" charset="0"/>
                <a:ea typeface="Calibri" pitchFamily="34" charset="-122"/>
                <a:cs typeface="Calibri" pitchFamily="34" charset="-120"/>
              </a:rPr>
              <a:t>A compact 1D CNN on band passed four channel time series, with subject independent validation. No transformer at this data scale.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2026-09-23T02:10:18Z</dcterms:created>
  <dcterms:modified xsi:type="dcterms:W3CDTF">2026-09-23T02:10:18Z</dcterms:modified>
</cp:coreProperties>
</file>