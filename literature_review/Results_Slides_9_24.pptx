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F3864"/>
                </a:solidFill>
                <a:latin typeface="Calibri"/>
              </a:defRPr>
            </a:pPr>
            <a:r>
              <a:rPr sz="1200" b="0" i="0" u="none" strike="noStrike">
                <a:solidFill>
                  <a:srgbClr val="1F3864"/>
                </a:solidFill>
                <a:latin typeface="Calibri"/>
              </a:rPr>
              <a:t>Measured lag per session (s). Start reading sits at 0</a:t>
            </a:r>
          </a:p>
        </c:rich>
      </c:tx>
      <c:layout/>
      <c:overlay val="0"/>
    </c:title>
    <c:autoTitleDeleted val="0"/>
    <c:plotArea>
      <c:layout/>
      <c:barChart>
        <c:barDir val="col"/>
        <c:grouping val="clustered"/>
        <c:varyColors val="0"/>
        <c:ser>
          <c:idx val="0"/>
          <c:order val="0"/>
          <c:tx>
            <c:strRef>
              <c:f>Sheet1!$B$1</c:f>
              <c:strCache>
                <c:ptCount val="1"/>
                <c:pt idx="0">
                  <c:v>Timestamp read as packet start</c:v>
                </c:pt>
              </c:strCache>
            </c:strRef>
          </c:tx>
          <c:spPr>
            <a:solidFill>
              <a:srgbClr val="1F386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Sheet1!$A$2:$A$21</c:f>
              <c:multiLvlStrCache>
                <c:ptCount val="2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lvl>
              </c:multiLvlStrCache>
            </c:multiLvlStrRef>
          </c:cat>
          <c:val>
            <c:numRef>
              <c:f>Sheet1!$B$2:$B$21</c:f>
              <c:numCache>
                <c:formatCode>General</c:formatCode>
                <c:ptCount val="20"/>
                <c:pt idx="0">
                  <c:v>0.1</c:v>
                </c:pt>
                <c:pt idx="1">
                  <c:v>0</c:v>
                </c:pt>
                <c:pt idx="2">
                  <c:v>0.1</c:v>
                </c:pt>
                <c:pt idx="3">
                  <c:v>0</c:v>
                </c:pt>
                <c:pt idx="4">
                  <c:v>0</c:v>
                </c:pt>
                <c:pt idx="5">
                  <c:v>0.2</c:v>
                </c:pt>
                <c:pt idx="6">
                  <c:v>0.1</c:v>
                </c:pt>
                <c:pt idx="7">
                  <c:v>0.1</c:v>
                </c:pt>
                <c:pt idx="8">
                  <c:v>0.1</c:v>
                </c:pt>
                <c:pt idx="9">
                  <c:v>0.1</c:v>
                </c:pt>
                <c:pt idx="10">
                  <c:v>0.1</c:v>
                </c:pt>
                <c:pt idx="11">
                  <c:v>0.1</c:v>
                </c:pt>
                <c:pt idx="12">
                  <c:v>0.1</c:v>
                </c:pt>
                <c:pt idx="13">
                  <c:v>0.1</c:v>
                </c:pt>
                <c:pt idx="14">
                  <c:v>0.2</c:v>
                </c:pt>
                <c:pt idx="15">
                  <c:v>0</c:v>
                </c:pt>
                <c:pt idx="16">
                  <c:v>0.1</c:v>
                </c:pt>
                <c:pt idx="17">
                  <c:v>0</c:v>
                </c:pt>
                <c:pt idx="18">
                  <c:v>0.1</c:v>
                </c:pt>
                <c:pt idx="19">
                  <c:v>0</c:v>
                </c:pt>
              </c:numCache>
            </c:numRef>
          </c:val>
        </c:ser>
        <c:ser>
          <c:idx val="1"/>
          <c:order val="1"/>
          <c:tx>
            <c:strRef>
              <c:f>Sheet1!$C$1</c:f>
              <c:strCache>
                <c:ptCount val="1"/>
                <c:pt idx="0">
                  <c:v>Timestamp read as packet end</c:v>
                </c:pt>
              </c:strCache>
            </c:strRef>
          </c:tx>
          <c:spPr>
            <a:solidFill>
              <a:srgbClr val="A9B8C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Sheet1!$A$2:$A$21</c:f>
              <c:multiLvlStrCache>
                <c:ptCount val="2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lvl>
              </c:multiLvlStrCache>
            </c:multiLvlStrRef>
          </c:cat>
          <c:val>
            <c:numRef>
              <c:f>Sheet1!$C$2:$C$21</c:f>
              <c:numCache>
                <c:formatCode>General</c:formatCode>
                <c:ptCount val="20"/>
                <c:pt idx="0">
                  <c:v>-7.9</c:v>
                </c:pt>
                <c:pt idx="1">
                  <c:v>-8</c:v>
                </c:pt>
                <c:pt idx="2">
                  <c:v>-7.9</c:v>
                </c:pt>
                <c:pt idx="3">
                  <c:v>-7.9</c:v>
                </c:pt>
                <c:pt idx="4">
                  <c:v>-8</c:v>
                </c:pt>
                <c:pt idx="5">
                  <c:v>-7.8</c:v>
                </c:pt>
                <c:pt idx="6">
                  <c:v>-7.9</c:v>
                </c:pt>
                <c:pt idx="7">
                  <c:v>-7.9</c:v>
                </c:pt>
                <c:pt idx="8">
                  <c:v>-7.9</c:v>
                </c:pt>
                <c:pt idx="9">
                  <c:v>-7.9</c:v>
                </c:pt>
                <c:pt idx="10">
                  <c:v>-7.9</c:v>
                </c:pt>
                <c:pt idx="11">
                  <c:v>-7.9</c:v>
                </c:pt>
                <c:pt idx="12">
                  <c:v>-7.9</c:v>
                </c:pt>
                <c:pt idx="13">
                  <c:v>-7.9</c:v>
                </c:pt>
                <c:pt idx="14">
                  <c:v>-7.8</c:v>
                </c:pt>
                <c:pt idx="15">
                  <c:v>-8</c:v>
                </c:pt>
                <c:pt idx="16">
                  <c:v>-7.9</c:v>
                </c:pt>
                <c:pt idx="17">
                  <c:v>-8</c:v>
                </c:pt>
                <c:pt idx="18">
                  <c:v>-7.9</c:v>
                </c:pt>
                <c:pt idx="19">
                  <c:v>-8</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title>
          <c:tx>
            <c:rich>
              <a:bodyPr/>
              <a:lstStyle/>
              <a:p>
                <a:pPr>
                  <a:defRPr sz="1000" b="0" i="0" u="none" strike="noStrike">
                    <a:solidFill>
                      <a:srgbClr val="000000"/>
                    </a:solidFill>
                    <a:latin typeface="Arial"/>
                  </a:defRPr>
                </a:pPr>
                <a:r>
                  <a:rPr sz="1000" b="0" i="0" u="none" strike="noStrike">
                    <a:solidFill>
                      <a:srgbClr val="000000"/>
                    </a:solidFill>
                    <a:latin typeface="Arial"/>
                  </a:rPr>
                  <a:t>Session</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A6270"/>
                </a:solidFill>
                <a:latin typeface="Arial"/>
              </a:defRPr>
            </a:pPr>
            <a:endParaRPr lang="en-US"/>
          </a:p>
        </c:txPr>
        <c:crossAx val="2094734552"/>
        <c:crosses val="autoZero"/>
        <c:auto val="1"/>
        <c:lblAlgn val="ctr"/>
        <c:noMultiLvlLbl val="1"/>
      </c:catAx>
      <c:valAx>
        <c:axId val="2094734552"/>
        <c:scaling>
          <c:orientation val="minMax"/>
          <c:max val="1"/>
          <c:min val="-9"/>
        </c:scaling>
        <c:delete val="0"/>
        <c:axPos val="l"/>
        <c:majorGridlines>
          <c:spPr>
            <a:ln w="6350" cap="flat">
              <a:solidFill>
                <a:srgbClr val="E3E7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6270"/>
                </a:solidFill>
                <a:latin typeface="Arial"/>
              </a:defRPr>
            </a:pPr>
            <a:endParaRPr lang="en-US"/>
          </a:p>
        </c:txPr>
        <c:crossAx val="2094734554"/>
        <c:crosses val="autoZero"/>
        <c:crossBetween val="between"/>
        <c:majorUnit val="2"/>
      </c:valAx>
      <c:spPr>
        <a:noFill/>
        <a:ln>
          <a:noFill/>
        </a:ln>
        <a:effectLst/>
      </c:spPr>
    </c:plotArea>
    <c:legend>
      <c:legendPos val="b"/>
      <c:overlay val="0"/>
      <c:txPr>
        <a:bodyPr/>
        <a:lstStyle/>
        <a:p>
          <a:pPr>
            <a:defRPr sz="1000">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 is the original architecture retrained on the new database, so this compares models, not data sources. Pooled over all 3,503 held out windows. Model B confusion matrix tp 980, fp 139, fn 195, tn 2189. Per fold F1 for Model B was 0.920, 0.801, 0.807, 0.852, a spread of about 0.05. LOSO numbers for Model A came in today. The two participants with the lowest F1 under LOSO were AIM122571 and AIM126487, both near 0.43.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means larger than the fold spread, with a matching drop in precision. Suggestive means about half the spread. Attention and the chew head are inside noise and are not claimed as contributions. The FFT row is the key one. Model B architecture on FFT input scores 0.767, below Model A on the same input at 0.779, so the architecture only helps once the input keeps its timing. Context lost precision because the model answered whether there was eating anywhere in 24 s, instead of in the labelled 8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papers from the AIM line, one from the Thessaloniki group, one survey, and two from outside the field read for architecture ideas. The lab moved to raw time series input in 2022, so my FFT ablation is a controlled measurement of that choice rather than a new idea. The fair next baseline is the 2022 ResNet trained on the new database under my evaluation. The two transformer papers do not separate subjects and use far more data than we have, so I do not recommend a transformer at this scale. Figures across papers come from different datasets and are not directly comparable.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was a precondition before training on the new database, not a headline finding. The two readings of the timestamp differ by exactly one 8 s packet, which is why both were measured. Correlation is computed only over samples valid in both series, so missing sensor data and unannotated time cannot create agreement. The test suite injects offsets of 0, plus or minus 8, 5 and minus 12 seconds and checks each is recovered, and checks that pure noise is reported as unreliable. Those tests also caught a resampling error during development that would have grown to about 8 s over a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457200" y="320040"/>
            <a:ext cx="11247120" cy="640080"/>
          </a:xfrm>
          <a:prstGeom prst="rect">
            <a:avLst/>
          </a:prstGeom>
          <a:noFill/>
          <a:ln/>
        </p:spPr>
        <p:txBody>
          <a:bodyPr wrap="square" lIns="0" tIns="0" rIns="0" bIns="0" rtlCol="0" anchor="ctr"/>
          <a:lstStyle/>
          <a:p>
            <a:pPr indent="0" marL="0">
              <a:buNone/>
            </a:pPr>
            <a:r>
              <a:rPr lang="en-US" sz="3400" b="1" dirty="0">
                <a:solidFill>
                  <a:srgbClr val="1F3864"/>
                </a:solidFill>
                <a:latin typeface="Calibri" pitchFamily="34" charset="0"/>
                <a:ea typeface="Calibri" pitchFamily="34" charset="-122"/>
                <a:cs typeface="Calibri" pitchFamily="34" charset="-120"/>
              </a:rPr>
              <a:t>Model A vs Model B</a:t>
            </a:r>
            <a:endParaRPr lang="en-US" sz="3400" dirty="0"/>
          </a:p>
        </p:txBody>
      </p:sp>
      <p:sp>
        <p:nvSpPr>
          <p:cNvPr id="3" name="Text 1"/>
          <p:cNvSpPr txBox="1"/>
          <p:nvPr/>
        </p:nvSpPr>
        <p:spPr>
          <a:xfrm>
            <a:off x="457200" y="932688"/>
            <a:ext cx="11247120" cy="365760"/>
          </a:xfrm>
          <a:prstGeom prst="rect">
            <a:avLst/>
          </a:prstGeom>
          <a:noFill/>
          <a:ln/>
        </p:spPr>
        <p:txBody>
          <a:bodyPr wrap="square" lIns="0" tIns="0" rIns="0" bIns="0" rtlCol="0" anchor="ctr"/>
          <a:lstStyle/>
          <a:p>
            <a:pPr indent="0" marL="0">
              <a:buNone/>
            </a:pPr>
            <a:r>
              <a:rPr lang="en-US" sz="1600" dirty="0">
                <a:solidFill>
                  <a:srgbClr val="2E5597"/>
                </a:solidFill>
                <a:latin typeface="Calibri" pitchFamily="34" charset="0"/>
                <a:ea typeface="Calibri" pitchFamily="34" charset="-122"/>
                <a:cs typeface="Calibri" pitchFamily="34" charset="-120"/>
              </a:rPr>
              <a:t>Same data, same folds, same evaluation. Only the model changes.</a:t>
            </a:r>
            <a:endParaRPr lang="en-US" sz="16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7223760" cy="914400"/>
        </p:xfrm>
        <a:graphic>
          <a:graphicData uri="http://schemas.openxmlformats.org/drawingml/2006/table">
            <a:tbl>
              <a:tblPr/>
              <a:tblGrid>
                <a:gridCol w="2103120"/>
                <a:gridCol w="2011680"/>
                <a:gridCol w="1737360"/>
                <a:gridCol w="1371600"/>
              </a:tblGrid>
              <a:tr h="566928">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Metric</a:t>
                      </a:r>
                      <a:endParaRPr lang="en-US" sz="16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1F3864"/>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Model A (previous design)</a:t>
                      </a:r>
                      <a:endParaRPr lang="en-US" sz="16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1F3864"/>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Model B (new)</a:t>
                      </a:r>
                      <a:endParaRPr lang="en-US" sz="16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1F3864"/>
                    </a:solidFill>
                  </a:tcPr>
                </a:tc>
                <a:tc>
                  <a:txBody>
                    <a:bodyPr/>
                    <a:lstStyle/>
                    <a:p>
                      <a:pPr algn="ctr" indent="0" marL="0">
                        <a:buNone/>
                      </a:pPr>
                      <a:r>
                        <a:rPr lang="en-US" sz="1600" b="1" dirty="0">
                          <a:solidFill>
                            <a:srgbClr val="FFFFFF"/>
                          </a:solidFill>
                          <a:latin typeface="Calibri" pitchFamily="34" charset="0"/>
                          <a:ea typeface="Calibri" pitchFamily="34" charset="-122"/>
                          <a:cs typeface="Calibri" pitchFamily="34" charset="-120"/>
                        </a:rPr>
                        <a:t>Change</a:t>
                      </a:r>
                      <a:endParaRPr lang="en-US" sz="16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1F3864"/>
                    </a:solidFill>
                  </a:tcPr>
                </a:tc>
              </a:tr>
              <a:tr h="566928">
                <a:tc>
                  <a:txBody>
                    <a:bodyPr/>
                    <a:lstStyle/>
                    <a:p>
                      <a:pPr algn="l" indent="0" marL="0">
                        <a:buNone/>
                      </a:pPr>
                      <a:r>
                        <a:rPr lang="en-US" sz="1600" b="1" dirty="0">
                          <a:solidFill>
                            <a:srgbClr val="1F3864"/>
                          </a:solidFill>
                          <a:latin typeface="Calibri" pitchFamily="34" charset="0"/>
                          <a:ea typeface="Calibri" pitchFamily="34" charset="-122"/>
                          <a:cs typeface="Calibri" pitchFamily="34" charset="-120"/>
                        </a:rPr>
                        <a:t>F1 score</a:t>
                      </a:r>
                      <a:endParaRPr lang="en-US" sz="16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E8EEF7"/>
                    </a:solidFill>
                  </a:tcPr>
                </a:tc>
                <a:tc>
                  <a:txBody>
                    <a:bodyPr/>
                    <a:lstStyle/>
                    <a:p>
                      <a:pPr algn="ctr" indent="0" marL="0">
                        <a:buNone/>
                      </a:pPr>
                      <a:r>
                        <a:rPr lang="en-US" sz="1600" b="1" dirty="0">
                          <a:solidFill>
                            <a:srgbClr val="1F3864"/>
                          </a:solidFill>
                          <a:latin typeface="Calibri" pitchFamily="34" charset="0"/>
                          <a:ea typeface="Calibri" pitchFamily="34" charset="-122"/>
                          <a:cs typeface="Calibri" pitchFamily="34" charset="-120"/>
                        </a:rPr>
                        <a:t>0.779</a:t>
                      </a:r>
                      <a:endParaRPr lang="en-US" sz="16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E8EEF7"/>
                    </a:solidFill>
                  </a:tcPr>
                </a:tc>
                <a:tc>
                  <a:txBody>
                    <a:bodyPr/>
                    <a:lstStyle/>
                    <a:p>
                      <a:pPr algn="ctr" indent="0" marL="0">
                        <a:buNone/>
                      </a:pPr>
                      <a:r>
                        <a:rPr lang="en-US" sz="1600" b="1" dirty="0">
                          <a:solidFill>
                            <a:srgbClr val="1F3864"/>
                          </a:solidFill>
                          <a:latin typeface="Calibri" pitchFamily="34" charset="0"/>
                          <a:ea typeface="Calibri" pitchFamily="34" charset="-122"/>
                          <a:cs typeface="Calibri" pitchFamily="34" charset="-120"/>
                        </a:rPr>
                        <a:t>0.854</a:t>
                      </a:r>
                      <a:endParaRPr lang="en-US" sz="16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E8EEF7"/>
                    </a:solidFill>
                  </a:tcPr>
                </a:tc>
                <a:tc>
                  <a:txBody>
                    <a:bodyPr/>
                    <a:lstStyle/>
                    <a:p>
                      <a:pPr algn="ctr" indent="0" marL="0">
                        <a:buNone/>
                      </a:pPr>
                      <a:r>
                        <a:rPr lang="en-US" sz="1600" b="1" dirty="0">
                          <a:solidFill>
                            <a:srgbClr val="1E7B4A"/>
                          </a:solidFill>
                          <a:latin typeface="Calibri" pitchFamily="34" charset="0"/>
                          <a:ea typeface="Calibri" pitchFamily="34" charset="-122"/>
                          <a:cs typeface="Calibri" pitchFamily="34" charset="-120"/>
                        </a:rPr>
                        <a:t>+0.075</a:t>
                      </a:r>
                      <a:endParaRPr lang="en-US" sz="16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E8EEF7"/>
                    </a:solidFill>
                  </a:tcPr>
                </a:tc>
              </a:tr>
              <a:tr h="566928">
                <a:tc>
                  <a:txBody>
                    <a:bodyPr/>
                    <a:lstStyle/>
                    <a:p>
                      <a:pPr algn="l" indent="0" marL="0">
                        <a:buNone/>
                      </a:pPr>
                      <a:r>
                        <a:rPr lang="en-US" sz="1600" b="1" dirty="0">
                          <a:solidFill>
                            <a:srgbClr val="222222"/>
                          </a:solidFill>
                          <a:latin typeface="Calibri" pitchFamily="34" charset="0"/>
                          <a:ea typeface="Calibri" pitchFamily="34" charset="-122"/>
                          <a:cs typeface="Calibri" pitchFamily="34" charset="-120"/>
                        </a:rPr>
                        <a:t>Accuracy</a:t>
                      </a:r>
                      <a:endParaRPr lang="en-US" sz="16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F7F9FC"/>
                    </a:solidFill>
                  </a:tcPr>
                </a:tc>
                <a:tc>
                  <a:txBody>
                    <a:bodyPr/>
                    <a:lstStyle/>
                    <a:p>
                      <a:pPr algn="ctr" indent="0" marL="0">
                        <a:buNone/>
                      </a:pPr>
                      <a:r>
                        <a:rPr lang="en-US" sz="1600" dirty="0">
                          <a:solidFill>
                            <a:srgbClr val="222222"/>
                          </a:solidFill>
                          <a:latin typeface="Calibri" pitchFamily="34" charset="0"/>
                          <a:ea typeface="Calibri" pitchFamily="34" charset="-122"/>
                          <a:cs typeface="Calibri" pitchFamily="34" charset="-120"/>
                        </a:rPr>
                        <a:t>0.841</a:t>
                      </a:r>
                      <a:endParaRPr lang="en-US" sz="16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F7F9FC"/>
                    </a:solidFill>
                  </a:tcPr>
                </a:tc>
                <a:tc>
                  <a:txBody>
                    <a:bodyPr/>
                    <a:lstStyle/>
                    <a:p>
                      <a:pPr algn="ctr" indent="0" marL="0">
                        <a:buNone/>
                      </a:pPr>
                      <a:r>
                        <a:rPr lang="en-US" sz="1600" dirty="0">
                          <a:solidFill>
                            <a:srgbClr val="222222"/>
                          </a:solidFill>
                          <a:latin typeface="Calibri" pitchFamily="34" charset="0"/>
                          <a:ea typeface="Calibri" pitchFamily="34" charset="-122"/>
                          <a:cs typeface="Calibri" pitchFamily="34" charset="-120"/>
                        </a:rPr>
                        <a:t>0.905</a:t>
                      </a:r>
                      <a:endParaRPr lang="en-US" sz="16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F7F9FC"/>
                    </a:solidFill>
                  </a:tcPr>
                </a:tc>
                <a:tc>
                  <a:txBody>
                    <a:bodyPr/>
                    <a:lstStyle/>
                    <a:p>
                      <a:pPr algn="ctr" indent="0" marL="0">
                        <a:buNone/>
                      </a:pPr>
                      <a:r>
                        <a:rPr lang="en-US" sz="1600" dirty="0">
                          <a:solidFill>
                            <a:srgbClr val="1E7B4A"/>
                          </a:solidFill>
                          <a:latin typeface="Calibri" pitchFamily="34" charset="0"/>
                          <a:ea typeface="Calibri" pitchFamily="34" charset="-122"/>
                          <a:cs typeface="Calibri" pitchFamily="34" charset="-120"/>
                        </a:rPr>
                        <a:t>+0.064</a:t>
                      </a:r>
                      <a:endParaRPr lang="en-US" sz="16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F7F9FC"/>
                    </a:solidFill>
                  </a:tcPr>
                </a:tc>
              </a:tr>
              <a:tr h="566928">
                <a:tc>
                  <a:txBody>
                    <a:bodyPr/>
                    <a:lstStyle/>
                    <a:p>
                      <a:pPr algn="l" indent="0" marL="0">
                        <a:buNone/>
                      </a:pPr>
                      <a:r>
                        <a:rPr lang="en-US" sz="1600" b="1" dirty="0">
                          <a:solidFill>
                            <a:srgbClr val="222222"/>
                          </a:solidFill>
                          <a:latin typeface="Calibri" pitchFamily="34" charset="0"/>
                          <a:ea typeface="Calibri" pitchFamily="34" charset="-122"/>
                          <a:cs typeface="Calibri" pitchFamily="34" charset="-120"/>
                        </a:rPr>
                        <a:t>Balanced accuracy</a:t>
                      </a:r>
                      <a:endParaRPr lang="en-US" sz="16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22222"/>
                          </a:solidFill>
                          <a:latin typeface="Calibri" pitchFamily="34" charset="0"/>
                          <a:ea typeface="Calibri" pitchFamily="34" charset="-122"/>
                          <a:cs typeface="Calibri" pitchFamily="34" charset="-120"/>
                        </a:rPr>
                        <a:t>0.840</a:t>
                      </a:r>
                      <a:endParaRPr lang="en-US" sz="16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22222"/>
                          </a:solidFill>
                          <a:latin typeface="Calibri" pitchFamily="34" charset="0"/>
                          <a:ea typeface="Calibri" pitchFamily="34" charset="-122"/>
                          <a:cs typeface="Calibri" pitchFamily="34" charset="-120"/>
                        </a:rPr>
                        <a:t>0.887</a:t>
                      </a:r>
                      <a:endParaRPr lang="en-US" sz="16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E7B4A"/>
                          </a:solidFill>
                          <a:latin typeface="Calibri" pitchFamily="34" charset="0"/>
                          <a:ea typeface="Calibri" pitchFamily="34" charset="-122"/>
                          <a:cs typeface="Calibri" pitchFamily="34" charset="-120"/>
                        </a:rPr>
                        <a:t>+0.047</a:t>
                      </a:r>
                      <a:endParaRPr lang="en-US" sz="16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FFFFFF"/>
                    </a:solidFill>
                  </a:tcPr>
                </a:tc>
              </a:tr>
              <a:tr h="566928">
                <a:tc>
                  <a:txBody>
                    <a:bodyPr/>
                    <a:lstStyle/>
                    <a:p>
                      <a:pPr algn="l" indent="0" marL="0">
                        <a:buNone/>
                      </a:pPr>
                      <a:r>
                        <a:rPr lang="en-US" sz="1600" b="1" dirty="0">
                          <a:solidFill>
                            <a:srgbClr val="222222"/>
                          </a:solidFill>
                          <a:latin typeface="Calibri" pitchFamily="34" charset="0"/>
                          <a:ea typeface="Calibri" pitchFamily="34" charset="-122"/>
                          <a:cs typeface="Calibri" pitchFamily="34" charset="-120"/>
                        </a:rPr>
                        <a:t>Precision</a:t>
                      </a:r>
                      <a:endParaRPr lang="en-US" sz="16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F7F9FC"/>
                    </a:solidFill>
                  </a:tcPr>
                </a:tc>
                <a:tc>
                  <a:txBody>
                    <a:bodyPr/>
                    <a:lstStyle/>
                    <a:p>
                      <a:pPr algn="ctr" indent="0" marL="0">
                        <a:buNone/>
                      </a:pPr>
                      <a:r>
                        <a:rPr lang="en-US" sz="1600" dirty="0">
                          <a:solidFill>
                            <a:srgbClr val="222222"/>
                          </a:solidFill>
                          <a:latin typeface="Calibri" pitchFamily="34" charset="0"/>
                          <a:ea typeface="Calibri" pitchFamily="34" charset="-122"/>
                          <a:cs typeface="Calibri" pitchFamily="34" charset="-120"/>
                        </a:rPr>
                        <a:t>0.730</a:t>
                      </a:r>
                      <a:endParaRPr lang="en-US" sz="16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F7F9FC"/>
                    </a:solidFill>
                  </a:tcPr>
                </a:tc>
                <a:tc>
                  <a:txBody>
                    <a:bodyPr/>
                    <a:lstStyle/>
                    <a:p>
                      <a:pPr algn="ctr" indent="0" marL="0">
                        <a:buNone/>
                      </a:pPr>
                      <a:r>
                        <a:rPr lang="en-US" sz="1600" dirty="0">
                          <a:solidFill>
                            <a:srgbClr val="222222"/>
                          </a:solidFill>
                          <a:latin typeface="Calibri" pitchFamily="34" charset="0"/>
                          <a:ea typeface="Calibri" pitchFamily="34" charset="-122"/>
                          <a:cs typeface="Calibri" pitchFamily="34" charset="-120"/>
                        </a:rPr>
                        <a:t>0.876</a:t>
                      </a:r>
                      <a:endParaRPr lang="en-US" sz="16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F7F9FC"/>
                    </a:solidFill>
                  </a:tcPr>
                </a:tc>
                <a:tc>
                  <a:txBody>
                    <a:bodyPr/>
                    <a:lstStyle/>
                    <a:p>
                      <a:pPr algn="ctr" indent="0" marL="0">
                        <a:buNone/>
                      </a:pPr>
                      <a:r>
                        <a:rPr lang="en-US" sz="1600" dirty="0">
                          <a:solidFill>
                            <a:srgbClr val="1E7B4A"/>
                          </a:solidFill>
                          <a:latin typeface="Calibri" pitchFamily="34" charset="0"/>
                          <a:ea typeface="Calibri" pitchFamily="34" charset="-122"/>
                          <a:cs typeface="Calibri" pitchFamily="34" charset="-120"/>
                        </a:rPr>
                        <a:t>+0.146</a:t>
                      </a:r>
                      <a:endParaRPr lang="en-US" sz="16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F7F9FC"/>
                    </a:solidFill>
                  </a:tcPr>
                </a:tc>
              </a:tr>
              <a:tr h="566928">
                <a:tc>
                  <a:txBody>
                    <a:bodyPr/>
                    <a:lstStyle/>
                    <a:p>
                      <a:pPr algn="l" indent="0" marL="0">
                        <a:buNone/>
                      </a:pPr>
                      <a:r>
                        <a:rPr lang="en-US" sz="1600" b="1" dirty="0">
                          <a:solidFill>
                            <a:srgbClr val="222222"/>
                          </a:solidFill>
                          <a:latin typeface="Calibri" pitchFamily="34" charset="0"/>
                          <a:ea typeface="Calibri" pitchFamily="34" charset="-122"/>
                          <a:cs typeface="Calibri" pitchFamily="34" charset="-120"/>
                        </a:rPr>
                        <a:t>Recall</a:t>
                      </a:r>
                      <a:endParaRPr lang="en-US" sz="16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22222"/>
                          </a:solidFill>
                          <a:latin typeface="Calibri" pitchFamily="34" charset="0"/>
                          <a:ea typeface="Calibri" pitchFamily="34" charset="-122"/>
                          <a:cs typeface="Calibri" pitchFamily="34" charset="-120"/>
                        </a:rPr>
                        <a:t>0.836</a:t>
                      </a:r>
                      <a:endParaRPr lang="en-US" sz="16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222222"/>
                          </a:solidFill>
                          <a:latin typeface="Calibri" pitchFamily="34" charset="0"/>
                          <a:ea typeface="Calibri" pitchFamily="34" charset="-122"/>
                          <a:cs typeface="Calibri" pitchFamily="34" charset="-120"/>
                        </a:rPr>
                        <a:t>0.834</a:t>
                      </a:r>
                      <a:endParaRPr lang="en-US" sz="16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5A6270"/>
                          </a:solidFill>
                          <a:latin typeface="Calibri" pitchFamily="34" charset="0"/>
                          <a:ea typeface="Calibri" pitchFamily="34" charset="-122"/>
                          <a:cs typeface="Calibri" pitchFamily="34" charset="-120"/>
                        </a:rPr>
                        <a:t>-0.002</a:t>
                      </a:r>
                      <a:endParaRPr lang="en-US" sz="16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FFFFFF"/>
                    </a:solidFill>
                  </a:tcPr>
                </a:tc>
              </a:tr>
            </a:tbl>
          </a:graphicData>
        </a:graphic>
      </p:graphicFrame>
      <p:sp>
        <p:nvSpPr>
          <p:cNvPr id="5" name="Shape 2"/>
          <p:cNvSpPr/>
          <p:nvPr/>
        </p:nvSpPr>
        <p:spPr>
          <a:xfrm>
            <a:off x="8046720" y="1600200"/>
            <a:ext cx="3703320" cy="1600200"/>
          </a:xfrm>
          <a:prstGeom prst="roundRect">
            <a:avLst>
              <a:gd name="adj" fmla="val 4571"/>
            </a:avLst>
          </a:prstGeom>
          <a:solidFill>
            <a:srgbClr val="E8EEF7"/>
          </a:solidFill>
          <a:ln w="12700">
            <a:solidFill>
              <a:srgbClr val="E8EEF7"/>
            </a:solidFill>
            <a:prstDash val="solid"/>
          </a:ln>
        </p:spPr>
      </p:sp>
      <p:sp>
        <p:nvSpPr>
          <p:cNvPr id="6" name="Text 3"/>
          <p:cNvSpPr txBox="1"/>
          <p:nvPr/>
        </p:nvSpPr>
        <p:spPr>
          <a:xfrm>
            <a:off x="8229600" y="1709928"/>
            <a:ext cx="3337560" cy="365760"/>
          </a:xfrm>
          <a:prstGeom prst="rect">
            <a:avLst/>
          </a:prstGeom>
          <a:noFill/>
          <a:ln/>
        </p:spPr>
        <p:txBody>
          <a:bodyPr wrap="square" lIns="0" tIns="0" rIns="0" bIns="0" rtlCol="0" anchor="ctr"/>
          <a:lstStyle/>
          <a:p>
            <a:pPr indent="0" marL="0">
              <a:buNone/>
            </a:pPr>
            <a:r>
              <a:rPr lang="en-US" sz="1600" b="1" dirty="0">
                <a:solidFill>
                  <a:srgbClr val="1F3864"/>
                </a:solidFill>
                <a:latin typeface="Calibri" pitchFamily="34" charset="0"/>
                <a:ea typeface="Calibri" pitchFamily="34" charset="-122"/>
                <a:cs typeface="Calibri" pitchFamily="34" charset="-120"/>
              </a:rPr>
              <a:t>Where the gain is</a:t>
            </a:r>
            <a:endParaRPr lang="en-US" sz="1600" dirty="0"/>
          </a:p>
        </p:txBody>
      </p:sp>
      <p:sp>
        <p:nvSpPr>
          <p:cNvPr id="7" name="Text 4"/>
          <p:cNvSpPr txBox="1"/>
          <p:nvPr/>
        </p:nvSpPr>
        <p:spPr>
          <a:xfrm>
            <a:off x="8229600" y="2103120"/>
            <a:ext cx="3337560" cy="1005840"/>
          </a:xfrm>
          <a:prstGeom prst="rect">
            <a:avLst/>
          </a:prstGeom>
          <a:noFill/>
          <a:ln/>
        </p:spPr>
        <p:txBody>
          <a:bodyPr wrap="square" lIns="0" tIns="0" rIns="0" bIns="0" rtlCol="0" anchor="t"/>
          <a:lstStyle/>
          <a:p>
            <a:pPr indent="0" marL="0">
              <a:buNone/>
            </a:pPr>
            <a:r>
              <a:rPr lang="en-US" sz="1300" dirty="0">
                <a:solidFill>
                  <a:srgbClr val="333333"/>
                </a:solidFill>
                <a:latin typeface="Calibri" pitchFamily="34" charset="0"/>
                <a:ea typeface="Calibri" pitchFamily="34" charset="-122"/>
                <a:cs typeface="Calibri" pitchFamily="34" charset="-120"/>
              </a:rPr>
              <a:t>Almost all in precision. Model B raises far fewer false alarms while catching the same share of eating.</a:t>
            </a:r>
            <a:endParaRPr lang="en-US" sz="1300" dirty="0"/>
          </a:p>
        </p:txBody>
      </p:sp>
      <p:sp>
        <p:nvSpPr>
          <p:cNvPr id="8" name="Shape 5"/>
          <p:cNvSpPr/>
          <p:nvPr/>
        </p:nvSpPr>
        <p:spPr>
          <a:xfrm>
            <a:off x="8046720" y="3383280"/>
            <a:ext cx="3703320" cy="1691640"/>
          </a:xfrm>
          <a:prstGeom prst="roundRect">
            <a:avLst>
              <a:gd name="adj" fmla="val 4324"/>
            </a:avLst>
          </a:prstGeom>
          <a:solidFill>
            <a:srgbClr val="E8EEF7"/>
          </a:solidFill>
          <a:ln w="12700">
            <a:solidFill>
              <a:srgbClr val="E8EEF7"/>
            </a:solidFill>
            <a:prstDash val="solid"/>
          </a:ln>
        </p:spPr>
      </p:sp>
      <p:sp>
        <p:nvSpPr>
          <p:cNvPr id="9" name="Text 6"/>
          <p:cNvSpPr txBox="1"/>
          <p:nvPr/>
        </p:nvSpPr>
        <p:spPr>
          <a:xfrm>
            <a:off x="8229600" y="3493008"/>
            <a:ext cx="3337560" cy="365760"/>
          </a:xfrm>
          <a:prstGeom prst="rect">
            <a:avLst/>
          </a:prstGeom>
          <a:noFill/>
          <a:ln/>
        </p:spPr>
        <p:txBody>
          <a:bodyPr wrap="square" lIns="0" tIns="0" rIns="0" bIns="0" rtlCol="0" anchor="ctr"/>
          <a:lstStyle/>
          <a:p>
            <a:pPr indent="0" marL="0">
              <a:buNone/>
            </a:pPr>
            <a:r>
              <a:rPr lang="en-US" sz="1600" b="1" dirty="0">
                <a:solidFill>
                  <a:srgbClr val="1F3864"/>
                </a:solidFill>
                <a:latin typeface="Calibri" pitchFamily="34" charset="0"/>
                <a:ea typeface="Calibri" pitchFamily="34" charset="-122"/>
                <a:cs typeface="Calibri" pitchFamily="34" charset="-120"/>
              </a:rPr>
              <a:t>New. Leave one subject out</a:t>
            </a:r>
            <a:endParaRPr lang="en-US" sz="1600" dirty="0"/>
          </a:p>
        </p:txBody>
      </p:sp>
      <p:sp>
        <p:nvSpPr>
          <p:cNvPr id="10" name="Text 7"/>
          <p:cNvSpPr txBox="1"/>
          <p:nvPr/>
        </p:nvSpPr>
        <p:spPr>
          <a:xfrm>
            <a:off x="8229600" y="3886200"/>
            <a:ext cx="3337560" cy="1097280"/>
          </a:xfrm>
          <a:prstGeom prst="rect">
            <a:avLst/>
          </a:prstGeom>
          <a:noFill/>
          <a:ln/>
        </p:spPr>
        <p:txBody>
          <a:bodyPr wrap="square" lIns="0" tIns="0" rIns="0" bIns="0" rtlCol="0" anchor="t"/>
          <a:lstStyle/>
          <a:p>
            <a:pPr indent="0" marL="0">
              <a:buNone/>
            </a:pPr>
            <a:r>
              <a:rPr lang="en-US" sz="1300" dirty="0">
                <a:solidFill>
                  <a:srgbClr val="333333"/>
                </a:solidFill>
                <a:latin typeface="Calibri" pitchFamily="34" charset="0"/>
                <a:ea typeface="Calibri" pitchFamily="34" charset="-122"/>
                <a:cs typeface="Calibri" pitchFamily="34" charset="-120"/>
              </a:rPr>
              <a:t>Model A under LOSO, 20 folds. F1 0.758, accuracy 0.818, balanced accuracy 0.826. Model B under LOSO is running next.</a:t>
            </a:r>
            <a:endParaRPr lang="en-US" sz="1300" dirty="0"/>
          </a:p>
        </p:txBody>
      </p:sp>
      <p:sp>
        <p:nvSpPr>
          <p:cNvPr id="11" name="Text 8"/>
          <p:cNvSpPr txBox="1"/>
          <p:nvPr/>
        </p:nvSpPr>
        <p:spPr>
          <a:xfrm>
            <a:off x="457200" y="5806440"/>
            <a:ext cx="11247120" cy="365760"/>
          </a:xfrm>
          <a:prstGeom prst="rect">
            <a:avLst/>
          </a:prstGeom>
          <a:noFill/>
          <a:ln/>
        </p:spPr>
        <p:txBody>
          <a:bodyPr wrap="square" lIns="0" tIns="0" rIns="0" bIns="0" rtlCol="0" anchor="ctr"/>
          <a:lstStyle/>
          <a:p>
            <a:pPr indent="0" marL="0">
              <a:buNone/>
            </a:pPr>
            <a:r>
              <a:rPr lang="en-US" sz="1100" i="1" dirty="0">
                <a:solidFill>
                  <a:srgbClr val="5A6270"/>
                </a:solidFill>
                <a:latin typeface="Calibri" pitchFamily="34" charset="0"/>
                <a:ea typeface="Calibri" pitchFamily="34" charset="-122"/>
                <a:cs typeface="Calibri" pitchFamily="34" charset="-120"/>
              </a:rPr>
              <a:t>20 participants, 3,503 windows of 8 s. Participant level 4 fold cross validation, threshold chosen on held out validation participants, never the test fold.</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320040"/>
            <a:ext cx="11247120" cy="640080"/>
          </a:xfrm>
          <a:prstGeom prst="rect">
            <a:avLst/>
          </a:prstGeom>
          <a:noFill/>
          <a:ln/>
        </p:spPr>
        <p:txBody>
          <a:bodyPr wrap="square" lIns="0" tIns="0" rIns="0" bIns="0" rtlCol="0" anchor="ctr"/>
          <a:lstStyle/>
          <a:p>
            <a:pPr indent="0" marL="0">
              <a:buNone/>
            </a:pPr>
            <a:r>
              <a:rPr lang="en-US" sz="3400" b="1" dirty="0">
                <a:solidFill>
                  <a:srgbClr val="1F3864"/>
                </a:solidFill>
                <a:latin typeface="Calibri" pitchFamily="34" charset="0"/>
                <a:ea typeface="Calibri" pitchFamily="34" charset="-122"/>
                <a:cs typeface="Calibri" pitchFamily="34" charset="-120"/>
              </a:rPr>
              <a:t>Ablation Study</a:t>
            </a:r>
            <a:endParaRPr lang="en-US" sz="3400" dirty="0"/>
          </a:p>
        </p:txBody>
      </p:sp>
      <p:sp>
        <p:nvSpPr>
          <p:cNvPr id="3" name="Text 1"/>
          <p:cNvSpPr txBox="1"/>
          <p:nvPr/>
        </p:nvSpPr>
        <p:spPr>
          <a:xfrm>
            <a:off x="457200" y="932688"/>
            <a:ext cx="11247120" cy="365760"/>
          </a:xfrm>
          <a:prstGeom prst="rect">
            <a:avLst/>
          </a:prstGeom>
          <a:noFill/>
          <a:ln/>
        </p:spPr>
        <p:txBody>
          <a:bodyPr wrap="square" lIns="0" tIns="0" rIns="0" bIns="0" rtlCol="0" anchor="ctr"/>
          <a:lstStyle/>
          <a:p>
            <a:pPr indent="0" marL="0">
              <a:buNone/>
            </a:pPr>
            <a:r>
              <a:rPr lang="en-US" sz="1600" dirty="0">
                <a:solidFill>
                  <a:srgbClr val="2E5597"/>
                </a:solidFill>
                <a:latin typeface="Calibri" pitchFamily="34" charset="0"/>
                <a:ea typeface="Calibri" pitchFamily="34" charset="-122"/>
                <a:cs typeface="Calibri" pitchFamily="34" charset="-120"/>
              </a:rPr>
              <a:t>Model B with one component removed or added at a time. Same folds, same evaluation.</a:t>
            </a:r>
            <a:endParaRPr lang="en-US" sz="1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7680960" cy="914400"/>
        </p:xfrm>
        <a:graphic>
          <a:graphicData uri="http://schemas.openxmlformats.org/drawingml/2006/table">
            <a:tbl>
              <a:tblPr/>
              <a:tblGrid>
                <a:gridCol w="3108960"/>
                <a:gridCol w="868680"/>
                <a:gridCol w="1005840"/>
                <a:gridCol w="1280160"/>
                <a:gridCol w="1417320"/>
              </a:tblGrid>
              <a:tr h="512064">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Variant</a:t>
                      </a:r>
                      <a:endParaRPr lang="en-US" sz="15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1F3864"/>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F1</a:t>
                      </a:r>
                      <a:endParaRPr lang="en-US" sz="15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1F3864"/>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Change</a:t>
                      </a:r>
                      <a:endParaRPr lang="en-US" sz="15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1F3864"/>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Precision</a:t>
                      </a:r>
                      <a:endParaRPr lang="en-US" sz="15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1F3864"/>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Verdict</a:t>
                      </a:r>
                      <a:endParaRPr lang="en-US" sz="15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1F3864"/>
                    </a:solidFill>
                  </a:tcPr>
                </a:tc>
              </a:tr>
              <a:tr h="512064">
                <a:tc>
                  <a:txBody>
                    <a:bodyPr/>
                    <a:lstStyle/>
                    <a:p>
                      <a:pPr algn="l" indent="0" marL="0">
                        <a:buNone/>
                      </a:pPr>
                      <a:r>
                        <a:rPr lang="en-US" sz="1500" b="1" dirty="0">
                          <a:solidFill>
                            <a:srgbClr val="1F3864"/>
                          </a:solidFill>
                          <a:latin typeface="Calibri" pitchFamily="34" charset="0"/>
                          <a:ea typeface="Calibri" pitchFamily="34" charset="-122"/>
                          <a:cs typeface="Calibri" pitchFamily="34" charset="-120"/>
                        </a:rPr>
                        <a:t>Model B, full</a:t>
                      </a:r>
                      <a:endParaRPr lang="en-US" sz="15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E8EEF7"/>
                    </a:solidFill>
                  </a:tcPr>
                </a:tc>
                <a:tc>
                  <a:txBody>
                    <a:bodyPr/>
                    <a:lstStyle/>
                    <a:p>
                      <a:pPr algn="ctr" indent="0" marL="0">
                        <a:buNone/>
                      </a:pPr>
                      <a:r>
                        <a:rPr lang="en-US" sz="1500" b="1" dirty="0">
                          <a:solidFill>
                            <a:srgbClr val="1F3864"/>
                          </a:solidFill>
                          <a:latin typeface="Calibri" pitchFamily="34" charset="0"/>
                          <a:ea typeface="Calibri" pitchFamily="34" charset="-122"/>
                          <a:cs typeface="Calibri" pitchFamily="34" charset="-120"/>
                        </a:rPr>
                        <a:t>0.854</a:t>
                      </a:r>
                      <a:endParaRPr lang="en-US" sz="15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E8EEF7"/>
                    </a:solidFill>
                  </a:tcPr>
                </a:tc>
                <a:tc>
                  <a:txBody>
                    <a:bodyPr/>
                    <a:lstStyle/>
                    <a:p>
                      <a:pPr algn="ctr" indent="0" marL="0">
                        <a:buNone/>
                      </a:pPr>
                      <a:endParaRPr lang="en-US" sz="15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E8EEF7"/>
                    </a:solidFill>
                  </a:tcPr>
                </a:tc>
                <a:tc>
                  <a:txBody>
                    <a:bodyPr/>
                    <a:lstStyle/>
                    <a:p>
                      <a:pPr algn="ctr" indent="0" marL="0">
                        <a:buNone/>
                      </a:pPr>
                      <a:r>
                        <a:rPr lang="en-US" sz="1500" b="1" dirty="0">
                          <a:solidFill>
                            <a:srgbClr val="1F3864"/>
                          </a:solidFill>
                          <a:latin typeface="Calibri" pitchFamily="34" charset="0"/>
                          <a:ea typeface="Calibri" pitchFamily="34" charset="-122"/>
                          <a:cs typeface="Calibri" pitchFamily="34" charset="-120"/>
                        </a:rPr>
                        <a:t>0.876</a:t>
                      </a:r>
                      <a:endParaRPr lang="en-US" sz="15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E8EEF7"/>
                    </a:solidFill>
                  </a:tcPr>
                </a:tc>
                <a:tc>
                  <a:txBody>
                    <a:bodyPr/>
                    <a:lstStyle/>
                    <a:p>
                      <a:pPr algn="ctr" indent="0" marL="0">
                        <a:buNone/>
                      </a:pPr>
                      <a:endParaRPr lang="en-US" sz="15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E8EEF7"/>
                    </a:solidFill>
                  </a:tcPr>
                </a:tc>
              </a:tr>
              <a:tr h="512064">
                <a:tc>
                  <a:txBody>
                    <a:bodyPr/>
                    <a:lstStyle/>
                    <a:p>
                      <a:pPr algn="l" indent="0" marL="0">
                        <a:buNone/>
                      </a:pPr>
                      <a:r>
                        <a:rPr lang="en-US" sz="1500" b="1" dirty="0">
                          <a:solidFill>
                            <a:srgbClr val="222222"/>
                          </a:solidFill>
                          <a:latin typeface="Calibri" pitchFamily="34" charset="0"/>
                          <a:ea typeface="Calibri" pitchFamily="34" charset="-122"/>
                          <a:cs typeface="Calibri" pitchFamily="34" charset="-120"/>
                        </a:rPr>
                        <a:t>Remove time domain input (use FFT)</a:t>
                      </a:r>
                      <a:endParaRPr lang="en-US" sz="15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F7F9FC"/>
                    </a:solidFill>
                  </a:tcPr>
                </a:tc>
                <a:tc>
                  <a:txBody>
                    <a:bodyPr/>
                    <a:lstStyle/>
                    <a:p>
                      <a:pPr algn="ctr" indent="0" marL="0">
                        <a:buNone/>
                      </a:pPr>
                      <a:r>
                        <a:rPr lang="en-US" sz="1500" dirty="0">
                          <a:solidFill>
                            <a:srgbClr val="222222"/>
                          </a:solidFill>
                          <a:latin typeface="Calibri" pitchFamily="34" charset="0"/>
                          <a:ea typeface="Calibri" pitchFamily="34" charset="-122"/>
                          <a:cs typeface="Calibri" pitchFamily="34" charset="-120"/>
                        </a:rPr>
                        <a:t>0.767</a:t>
                      </a:r>
                      <a:endParaRPr lang="en-US" sz="15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F7F9FC"/>
                    </a:solidFill>
                  </a:tcPr>
                </a:tc>
                <a:tc>
                  <a:txBody>
                    <a:bodyPr/>
                    <a:lstStyle/>
                    <a:p>
                      <a:pPr algn="ctr" indent="0" marL="0">
                        <a:buNone/>
                      </a:pPr>
                      <a:r>
                        <a:rPr lang="en-US" sz="1500" dirty="0">
                          <a:solidFill>
                            <a:srgbClr val="222222"/>
                          </a:solidFill>
                          <a:latin typeface="Calibri" pitchFamily="34" charset="0"/>
                          <a:ea typeface="Calibri" pitchFamily="34" charset="-122"/>
                          <a:cs typeface="Calibri" pitchFamily="34" charset="-120"/>
                        </a:rPr>
                        <a:t>-0.087</a:t>
                      </a:r>
                      <a:endParaRPr lang="en-US" sz="15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F7F9FC"/>
                    </a:solidFill>
                  </a:tcPr>
                </a:tc>
                <a:tc>
                  <a:txBody>
                    <a:bodyPr/>
                    <a:lstStyle/>
                    <a:p>
                      <a:pPr algn="ctr" indent="0" marL="0">
                        <a:buNone/>
                      </a:pPr>
                      <a:r>
                        <a:rPr lang="en-US" sz="1500" dirty="0">
                          <a:solidFill>
                            <a:srgbClr val="222222"/>
                          </a:solidFill>
                          <a:latin typeface="Calibri" pitchFamily="34" charset="0"/>
                          <a:ea typeface="Calibri" pitchFamily="34" charset="-122"/>
                          <a:cs typeface="Calibri" pitchFamily="34" charset="-120"/>
                        </a:rPr>
                        <a:t>0.696</a:t>
                      </a:r>
                      <a:endParaRPr lang="en-US" sz="15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F7F9FC"/>
                    </a:solidFill>
                  </a:tcPr>
                </a:tc>
                <a:tc>
                  <a:txBody>
                    <a:bodyPr/>
                    <a:lstStyle/>
                    <a:p>
                      <a:pPr algn="ctr" indent="0" marL="0">
                        <a:buNone/>
                      </a:pPr>
                      <a:r>
                        <a:rPr lang="en-US" sz="1500" dirty="0">
                          <a:solidFill>
                            <a:srgbClr val="1E7B4A"/>
                          </a:solidFill>
                          <a:latin typeface="Calibri" pitchFamily="34" charset="0"/>
                          <a:ea typeface="Calibri" pitchFamily="34" charset="-122"/>
                          <a:cs typeface="Calibri" pitchFamily="34" charset="-120"/>
                        </a:rPr>
                        <a:t>Real effect</a:t>
                      </a:r>
                      <a:endParaRPr lang="en-US" sz="15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F7F9FC"/>
                    </a:solidFill>
                  </a:tcPr>
                </a:tc>
              </a:tr>
              <a:tr h="512064">
                <a:tc>
                  <a:txBody>
                    <a:bodyPr/>
                    <a:lstStyle/>
                    <a:p>
                      <a:pPr algn="l" indent="0" marL="0">
                        <a:buNone/>
                      </a:pPr>
                      <a:r>
                        <a:rPr lang="en-US" sz="1500" b="1" dirty="0">
                          <a:solidFill>
                            <a:srgbClr val="222222"/>
                          </a:solidFill>
                          <a:latin typeface="Calibri" pitchFamily="34" charset="0"/>
                          <a:ea typeface="Calibri" pitchFamily="34" charset="-122"/>
                          <a:cs typeface="Calibri" pitchFamily="34" charset="-120"/>
                        </a:rPr>
                        <a:t>Remove overlapping training windows</a:t>
                      </a:r>
                      <a:endParaRPr lang="en-US" sz="15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22222"/>
                          </a:solidFill>
                          <a:latin typeface="Calibri" pitchFamily="34" charset="0"/>
                          <a:ea typeface="Calibri" pitchFamily="34" charset="-122"/>
                          <a:cs typeface="Calibri" pitchFamily="34" charset="-120"/>
                        </a:rPr>
                        <a:t>0.829</a:t>
                      </a:r>
                      <a:endParaRPr lang="en-US" sz="15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22222"/>
                          </a:solidFill>
                          <a:latin typeface="Calibri" pitchFamily="34" charset="0"/>
                          <a:ea typeface="Calibri" pitchFamily="34" charset="-122"/>
                          <a:cs typeface="Calibri" pitchFamily="34" charset="-120"/>
                        </a:rPr>
                        <a:t>-0.025</a:t>
                      </a:r>
                      <a:endParaRPr lang="en-US" sz="15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22222"/>
                          </a:solidFill>
                          <a:latin typeface="Calibri" pitchFamily="34" charset="0"/>
                          <a:ea typeface="Calibri" pitchFamily="34" charset="-122"/>
                          <a:cs typeface="Calibri" pitchFamily="34" charset="-120"/>
                        </a:rPr>
                        <a:t>0.834</a:t>
                      </a:r>
                      <a:endParaRPr lang="en-US" sz="15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B26B00"/>
                          </a:solidFill>
                          <a:latin typeface="Calibri" pitchFamily="34" charset="0"/>
                          <a:ea typeface="Calibri" pitchFamily="34" charset="-122"/>
                          <a:cs typeface="Calibri" pitchFamily="34" charset="-120"/>
                        </a:rPr>
                        <a:t>Suggestive</a:t>
                      </a:r>
                      <a:endParaRPr lang="en-US" sz="15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FFFFFF"/>
                    </a:solidFill>
                  </a:tcPr>
                </a:tc>
              </a:tr>
              <a:tr h="512064">
                <a:tc>
                  <a:txBody>
                    <a:bodyPr/>
                    <a:lstStyle/>
                    <a:p>
                      <a:pPr algn="l" indent="0" marL="0">
                        <a:buNone/>
                      </a:pPr>
                      <a:r>
                        <a:rPr lang="en-US" sz="1500" b="1" dirty="0">
                          <a:solidFill>
                            <a:srgbClr val="222222"/>
                          </a:solidFill>
                          <a:latin typeface="Calibri" pitchFamily="34" charset="0"/>
                          <a:ea typeface="Calibri" pitchFamily="34" charset="-122"/>
                          <a:cs typeface="Calibri" pitchFamily="34" charset="-120"/>
                        </a:rPr>
                        <a:t>Remove attention</a:t>
                      </a:r>
                      <a:endParaRPr lang="en-US" sz="15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F7F9FC"/>
                    </a:solidFill>
                  </a:tcPr>
                </a:tc>
                <a:tc>
                  <a:txBody>
                    <a:bodyPr/>
                    <a:lstStyle/>
                    <a:p>
                      <a:pPr algn="ctr" indent="0" marL="0">
                        <a:buNone/>
                      </a:pPr>
                      <a:r>
                        <a:rPr lang="en-US" sz="1500" dirty="0">
                          <a:solidFill>
                            <a:srgbClr val="222222"/>
                          </a:solidFill>
                          <a:latin typeface="Calibri" pitchFamily="34" charset="0"/>
                          <a:ea typeface="Calibri" pitchFamily="34" charset="-122"/>
                          <a:cs typeface="Calibri" pitchFamily="34" charset="-120"/>
                        </a:rPr>
                        <a:t>0.847</a:t>
                      </a:r>
                      <a:endParaRPr lang="en-US" sz="15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F7F9FC"/>
                    </a:solidFill>
                  </a:tcPr>
                </a:tc>
                <a:tc>
                  <a:txBody>
                    <a:bodyPr/>
                    <a:lstStyle/>
                    <a:p>
                      <a:pPr algn="ctr" indent="0" marL="0">
                        <a:buNone/>
                      </a:pPr>
                      <a:r>
                        <a:rPr lang="en-US" sz="1500" dirty="0">
                          <a:solidFill>
                            <a:srgbClr val="222222"/>
                          </a:solidFill>
                          <a:latin typeface="Calibri" pitchFamily="34" charset="0"/>
                          <a:ea typeface="Calibri" pitchFamily="34" charset="-122"/>
                          <a:cs typeface="Calibri" pitchFamily="34" charset="-120"/>
                        </a:rPr>
                        <a:t>-0.007</a:t>
                      </a:r>
                      <a:endParaRPr lang="en-US" sz="15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F7F9FC"/>
                    </a:solidFill>
                  </a:tcPr>
                </a:tc>
                <a:tc>
                  <a:txBody>
                    <a:bodyPr/>
                    <a:lstStyle/>
                    <a:p>
                      <a:pPr algn="ctr" indent="0" marL="0">
                        <a:buNone/>
                      </a:pPr>
                      <a:r>
                        <a:rPr lang="en-US" sz="1500" dirty="0">
                          <a:solidFill>
                            <a:srgbClr val="222222"/>
                          </a:solidFill>
                          <a:latin typeface="Calibri" pitchFamily="34" charset="0"/>
                          <a:ea typeface="Calibri" pitchFamily="34" charset="-122"/>
                          <a:cs typeface="Calibri" pitchFamily="34" charset="-120"/>
                        </a:rPr>
                        <a:t>0.857</a:t>
                      </a:r>
                      <a:endParaRPr lang="en-US" sz="15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F7F9FC"/>
                    </a:solidFill>
                  </a:tcPr>
                </a:tc>
                <a:tc>
                  <a:txBody>
                    <a:bodyPr/>
                    <a:lstStyle/>
                    <a:p>
                      <a:pPr algn="ctr" indent="0" marL="0">
                        <a:buNone/>
                      </a:pPr>
                      <a:r>
                        <a:rPr lang="en-US" sz="1500" dirty="0">
                          <a:solidFill>
                            <a:srgbClr val="5A6270"/>
                          </a:solidFill>
                          <a:latin typeface="Calibri" pitchFamily="34" charset="0"/>
                          <a:ea typeface="Calibri" pitchFamily="34" charset="-122"/>
                          <a:cs typeface="Calibri" pitchFamily="34" charset="-120"/>
                        </a:rPr>
                        <a:t>Within noise</a:t>
                      </a:r>
                      <a:endParaRPr lang="en-US" sz="15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F7F9FC"/>
                    </a:solidFill>
                  </a:tcPr>
                </a:tc>
              </a:tr>
              <a:tr h="512064">
                <a:tc>
                  <a:txBody>
                    <a:bodyPr/>
                    <a:lstStyle/>
                    <a:p>
                      <a:pPr algn="l" indent="0" marL="0">
                        <a:buNone/>
                      </a:pPr>
                      <a:r>
                        <a:rPr lang="en-US" sz="1500" b="1" dirty="0">
                          <a:solidFill>
                            <a:srgbClr val="222222"/>
                          </a:solidFill>
                          <a:latin typeface="Calibri" pitchFamily="34" charset="0"/>
                          <a:ea typeface="Calibri" pitchFamily="34" charset="-122"/>
                          <a:cs typeface="Calibri" pitchFamily="34" charset="-120"/>
                        </a:rPr>
                        <a:t>Remove chew count head</a:t>
                      </a:r>
                      <a:endParaRPr lang="en-US" sz="15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22222"/>
                          </a:solidFill>
                          <a:latin typeface="Calibri" pitchFamily="34" charset="0"/>
                          <a:ea typeface="Calibri" pitchFamily="34" charset="-122"/>
                          <a:cs typeface="Calibri" pitchFamily="34" charset="-120"/>
                        </a:rPr>
                        <a:t>0.849</a:t>
                      </a:r>
                      <a:endParaRPr lang="en-US" sz="15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22222"/>
                          </a:solidFill>
                          <a:latin typeface="Calibri" pitchFamily="34" charset="0"/>
                          <a:ea typeface="Calibri" pitchFamily="34" charset="-122"/>
                          <a:cs typeface="Calibri" pitchFamily="34" charset="-120"/>
                        </a:rPr>
                        <a:t>-0.006</a:t>
                      </a:r>
                      <a:endParaRPr lang="en-US" sz="15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22222"/>
                          </a:solidFill>
                          <a:latin typeface="Calibri" pitchFamily="34" charset="0"/>
                          <a:ea typeface="Calibri" pitchFamily="34" charset="-122"/>
                          <a:cs typeface="Calibri" pitchFamily="34" charset="-120"/>
                        </a:rPr>
                        <a:t>0.857</a:t>
                      </a:r>
                      <a:endParaRPr lang="en-US" sz="15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5A6270"/>
                          </a:solidFill>
                          <a:latin typeface="Calibri" pitchFamily="34" charset="0"/>
                          <a:ea typeface="Calibri" pitchFamily="34" charset="-122"/>
                          <a:cs typeface="Calibri" pitchFamily="34" charset="-120"/>
                        </a:rPr>
                        <a:t>Within noise</a:t>
                      </a:r>
                      <a:endParaRPr lang="en-US" sz="15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FFFFFF"/>
                    </a:solidFill>
                  </a:tcPr>
                </a:tc>
              </a:tr>
              <a:tr h="512064">
                <a:tc>
                  <a:txBody>
                    <a:bodyPr/>
                    <a:lstStyle/>
                    <a:p>
                      <a:pPr algn="l" indent="0" marL="0">
                        <a:buNone/>
                      </a:pPr>
                      <a:r>
                        <a:rPr lang="en-US" sz="1500" b="1" dirty="0">
                          <a:solidFill>
                            <a:srgbClr val="222222"/>
                          </a:solidFill>
                          <a:latin typeface="Calibri" pitchFamily="34" charset="0"/>
                          <a:ea typeface="Calibri" pitchFamily="34" charset="-122"/>
                          <a:cs typeface="Calibri" pitchFamily="34" charset="-120"/>
                        </a:rPr>
                        <a:t>Add median smoothing</a:t>
                      </a:r>
                      <a:endParaRPr lang="en-US" sz="15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F7F9FC"/>
                    </a:solidFill>
                  </a:tcPr>
                </a:tc>
                <a:tc>
                  <a:txBody>
                    <a:bodyPr/>
                    <a:lstStyle/>
                    <a:p>
                      <a:pPr algn="ctr" indent="0" marL="0">
                        <a:buNone/>
                      </a:pPr>
                      <a:r>
                        <a:rPr lang="en-US" sz="1500" dirty="0">
                          <a:solidFill>
                            <a:srgbClr val="222222"/>
                          </a:solidFill>
                          <a:latin typeface="Calibri" pitchFamily="34" charset="0"/>
                          <a:ea typeface="Calibri" pitchFamily="34" charset="-122"/>
                          <a:cs typeface="Calibri" pitchFamily="34" charset="-120"/>
                        </a:rPr>
                        <a:t>0.775</a:t>
                      </a:r>
                      <a:endParaRPr lang="en-US" sz="15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F7F9FC"/>
                    </a:solidFill>
                  </a:tcPr>
                </a:tc>
                <a:tc>
                  <a:txBody>
                    <a:bodyPr/>
                    <a:lstStyle/>
                    <a:p>
                      <a:pPr algn="ctr" indent="0" marL="0">
                        <a:buNone/>
                      </a:pPr>
                      <a:r>
                        <a:rPr lang="en-US" sz="1500" dirty="0">
                          <a:solidFill>
                            <a:srgbClr val="222222"/>
                          </a:solidFill>
                          <a:latin typeface="Calibri" pitchFamily="34" charset="0"/>
                          <a:ea typeface="Calibri" pitchFamily="34" charset="-122"/>
                          <a:cs typeface="Calibri" pitchFamily="34" charset="-120"/>
                        </a:rPr>
                        <a:t>-0.079</a:t>
                      </a:r>
                      <a:endParaRPr lang="en-US" sz="15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F7F9FC"/>
                    </a:solidFill>
                  </a:tcPr>
                </a:tc>
                <a:tc>
                  <a:txBody>
                    <a:bodyPr/>
                    <a:lstStyle/>
                    <a:p>
                      <a:pPr algn="ctr" indent="0" marL="0">
                        <a:buNone/>
                      </a:pPr>
                      <a:r>
                        <a:rPr lang="en-US" sz="1500" dirty="0">
                          <a:solidFill>
                            <a:srgbClr val="222222"/>
                          </a:solidFill>
                          <a:latin typeface="Calibri" pitchFamily="34" charset="0"/>
                          <a:ea typeface="Calibri" pitchFamily="34" charset="-122"/>
                          <a:cs typeface="Calibri" pitchFamily="34" charset="-120"/>
                        </a:rPr>
                        <a:t>0.765</a:t>
                      </a:r>
                      <a:endParaRPr lang="en-US" sz="15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F7F9FC"/>
                    </a:solidFill>
                  </a:tcPr>
                </a:tc>
                <a:tc>
                  <a:txBody>
                    <a:bodyPr/>
                    <a:lstStyle/>
                    <a:p>
                      <a:pPr algn="ctr" indent="0" marL="0">
                        <a:buNone/>
                      </a:pPr>
                      <a:r>
                        <a:rPr lang="en-US" sz="1500" dirty="0">
                          <a:solidFill>
                            <a:srgbClr val="B03A2E"/>
                          </a:solidFill>
                          <a:latin typeface="Calibri" pitchFamily="34" charset="0"/>
                          <a:ea typeface="Calibri" pitchFamily="34" charset="-122"/>
                          <a:cs typeface="Calibri" pitchFamily="34" charset="-120"/>
                        </a:rPr>
                        <a:t>Hurts</a:t>
                      </a:r>
                      <a:endParaRPr lang="en-US" sz="15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F7F9FC"/>
                    </a:solidFill>
                  </a:tcPr>
                </a:tc>
              </a:tr>
              <a:tr h="512064">
                <a:tc>
                  <a:txBody>
                    <a:bodyPr/>
                    <a:lstStyle/>
                    <a:p>
                      <a:pPr algn="l" indent="0" marL="0">
                        <a:buNone/>
                      </a:pPr>
                      <a:r>
                        <a:rPr lang="en-US" sz="1500" b="1" dirty="0">
                          <a:solidFill>
                            <a:srgbClr val="222222"/>
                          </a:solidFill>
                          <a:latin typeface="Calibri" pitchFamily="34" charset="0"/>
                          <a:ea typeface="Calibri" pitchFamily="34" charset="-122"/>
                          <a:cs typeface="Calibri" pitchFamily="34" charset="-120"/>
                        </a:rPr>
                        <a:t>Add 8 s context each side</a:t>
                      </a:r>
                      <a:endParaRPr lang="en-US" sz="15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22222"/>
                          </a:solidFill>
                          <a:latin typeface="Calibri" pitchFamily="34" charset="0"/>
                          <a:ea typeface="Calibri" pitchFamily="34" charset="-122"/>
                          <a:cs typeface="Calibri" pitchFamily="34" charset="-120"/>
                        </a:rPr>
                        <a:t>0.775</a:t>
                      </a:r>
                      <a:endParaRPr lang="en-US" sz="15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22222"/>
                          </a:solidFill>
                          <a:latin typeface="Calibri" pitchFamily="34" charset="0"/>
                          <a:ea typeface="Calibri" pitchFamily="34" charset="-122"/>
                          <a:cs typeface="Calibri" pitchFamily="34" charset="-120"/>
                        </a:rPr>
                        <a:t>-0.080</a:t>
                      </a:r>
                      <a:endParaRPr lang="en-US" sz="15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222222"/>
                          </a:solidFill>
                          <a:latin typeface="Calibri" pitchFamily="34" charset="0"/>
                          <a:ea typeface="Calibri" pitchFamily="34" charset="-122"/>
                          <a:cs typeface="Calibri" pitchFamily="34" charset="-120"/>
                        </a:rPr>
                        <a:t>0.683</a:t>
                      </a:r>
                      <a:endParaRPr lang="en-US" sz="15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B03A2E"/>
                          </a:solidFill>
                          <a:latin typeface="Calibri" pitchFamily="34" charset="0"/>
                          <a:ea typeface="Calibri" pitchFamily="34" charset="-122"/>
                          <a:cs typeface="Calibri" pitchFamily="34" charset="-120"/>
                        </a:rPr>
                        <a:t>Hurts</a:t>
                      </a:r>
                      <a:endParaRPr lang="en-US" sz="15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FFFFFF"/>
                    </a:solidFill>
                  </a:tcPr>
                </a:tc>
              </a:tr>
            </a:tbl>
          </a:graphicData>
        </a:graphic>
      </p:graphicFrame>
      <p:sp>
        <p:nvSpPr>
          <p:cNvPr id="5" name="Shape 2"/>
          <p:cNvSpPr/>
          <p:nvPr/>
        </p:nvSpPr>
        <p:spPr>
          <a:xfrm>
            <a:off x="8458200" y="1600200"/>
            <a:ext cx="3291840" cy="1417320"/>
          </a:xfrm>
          <a:prstGeom prst="roundRect">
            <a:avLst>
              <a:gd name="adj" fmla="val 5161"/>
            </a:avLst>
          </a:prstGeom>
          <a:solidFill>
            <a:srgbClr val="E8EEF7"/>
          </a:solidFill>
          <a:ln w="12700">
            <a:solidFill>
              <a:srgbClr val="E8EEF7"/>
            </a:solidFill>
            <a:prstDash val="solid"/>
          </a:ln>
        </p:spPr>
      </p:sp>
      <p:sp>
        <p:nvSpPr>
          <p:cNvPr id="6" name="Text 3"/>
          <p:cNvSpPr txBox="1"/>
          <p:nvPr/>
        </p:nvSpPr>
        <p:spPr>
          <a:xfrm>
            <a:off x="8641080" y="1709928"/>
            <a:ext cx="2926080" cy="365760"/>
          </a:xfrm>
          <a:prstGeom prst="rect">
            <a:avLst/>
          </a:prstGeom>
          <a:noFill/>
          <a:ln/>
        </p:spPr>
        <p:txBody>
          <a:bodyPr wrap="square" lIns="0" tIns="0" rIns="0" bIns="0" rtlCol="0" anchor="ctr"/>
          <a:lstStyle/>
          <a:p>
            <a:pPr indent="0" marL="0">
              <a:buNone/>
            </a:pPr>
            <a:r>
              <a:rPr lang="en-US" sz="1600" b="1" dirty="0">
                <a:solidFill>
                  <a:srgbClr val="1F3864"/>
                </a:solidFill>
                <a:latin typeface="Calibri" pitchFamily="34" charset="0"/>
                <a:ea typeface="Calibri" pitchFamily="34" charset="-122"/>
                <a:cs typeface="Calibri" pitchFamily="34" charset="-120"/>
              </a:rPr>
              <a:t>Headline</a:t>
            </a:r>
            <a:endParaRPr lang="en-US" sz="1600" dirty="0"/>
          </a:p>
        </p:txBody>
      </p:sp>
      <p:sp>
        <p:nvSpPr>
          <p:cNvPr id="7" name="Text 4"/>
          <p:cNvSpPr txBox="1"/>
          <p:nvPr/>
        </p:nvSpPr>
        <p:spPr>
          <a:xfrm>
            <a:off x="8641080" y="2103120"/>
            <a:ext cx="2926080" cy="822960"/>
          </a:xfrm>
          <a:prstGeom prst="rect">
            <a:avLst/>
          </a:prstGeom>
          <a:noFill/>
          <a:ln/>
        </p:spPr>
        <p:txBody>
          <a:bodyPr wrap="square" lIns="0" tIns="0" rIns="0" bIns="0" rtlCol="0" anchor="t"/>
          <a:lstStyle/>
          <a:p>
            <a:pPr indent="0" marL="0">
              <a:buNone/>
            </a:pPr>
            <a:r>
              <a:rPr lang="en-US" sz="1300" dirty="0">
                <a:solidFill>
                  <a:srgbClr val="333333"/>
                </a:solidFill>
                <a:latin typeface="Calibri" pitchFamily="34" charset="0"/>
                <a:ea typeface="Calibri" pitchFamily="34" charset="-122"/>
                <a:cs typeface="Calibri" pitchFamily="34" charset="-120"/>
              </a:rPr>
              <a:t>The input representation does nearly all the work. Same architecture on FFT input loses 0.087 F1.</a:t>
            </a:r>
            <a:endParaRPr lang="en-US" sz="1300" dirty="0"/>
          </a:p>
        </p:txBody>
      </p:sp>
      <p:sp>
        <p:nvSpPr>
          <p:cNvPr id="8" name="Shape 5"/>
          <p:cNvSpPr/>
          <p:nvPr/>
        </p:nvSpPr>
        <p:spPr>
          <a:xfrm>
            <a:off x="8458200" y="3154680"/>
            <a:ext cx="3291840" cy="1325880"/>
          </a:xfrm>
          <a:prstGeom prst="roundRect">
            <a:avLst>
              <a:gd name="adj" fmla="val 5517"/>
            </a:avLst>
          </a:prstGeom>
          <a:solidFill>
            <a:srgbClr val="E8EEF7"/>
          </a:solidFill>
          <a:ln w="12700">
            <a:solidFill>
              <a:srgbClr val="E8EEF7"/>
            </a:solidFill>
            <a:prstDash val="solid"/>
          </a:ln>
        </p:spPr>
      </p:sp>
      <p:sp>
        <p:nvSpPr>
          <p:cNvPr id="9" name="Text 6"/>
          <p:cNvSpPr txBox="1"/>
          <p:nvPr/>
        </p:nvSpPr>
        <p:spPr>
          <a:xfrm>
            <a:off x="8641080" y="3264408"/>
            <a:ext cx="2926080" cy="365760"/>
          </a:xfrm>
          <a:prstGeom prst="rect">
            <a:avLst/>
          </a:prstGeom>
          <a:noFill/>
          <a:ln/>
        </p:spPr>
        <p:txBody>
          <a:bodyPr wrap="square" lIns="0" tIns="0" rIns="0" bIns="0" rtlCol="0" anchor="ctr"/>
          <a:lstStyle/>
          <a:p>
            <a:pPr indent="0" marL="0">
              <a:buNone/>
            </a:pPr>
            <a:r>
              <a:rPr lang="en-US" sz="1600" b="1" dirty="0">
                <a:solidFill>
                  <a:srgbClr val="1F3864"/>
                </a:solidFill>
                <a:latin typeface="Calibri" pitchFamily="34" charset="0"/>
                <a:ea typeface="Calibri" pitchFamily="34" charset="-122"/>
                <a:cs typeface="Calibri" pitchFamily="34" charset="-120"/>
              </a:rPr>
              <a:t>Why smoothing hurts</a:t>
            </a:r>
            <a:endParaRPr lang="en-US" sz="1600" dirty="0"/>
          </a:p>
        </p:txBody>
      </p:sp>
      <p:sp>
        <p:nvSpPr>
          <p:cNvPr id="10" name="Text 7"/>
          <p:cNvSpPr txBox="1"/>
          <p:nvPr/>
        </p:nvSpPr>
        <p:spPr>
          <a:xfrm>
            <a:off x="8641080" y="3657600"/>
            <a:ext cx="2926080" cy="731520"/>
          </a:xfrm>
          <a:prstGeom prst="rect">
            <a:avLst/>
          </a:prstGeom>
          <a:noFill/>
          <a:ln/>
        </p:spPr>
        <p:txBody>
          <a:bodyPr wrap="square" lIns="0" tIns="0" rIns="0" bIns="0" rtlCol="0" anchor="t"/>
          <a:lstStyle/>
          <a:p>
            <a:pPr indent="0" marL="0">
              <a:buNone/>
            </a:pPr>
            <a:r>
              <a:rPr lang="en-US" sz="1300" dirty="0">
                <a:solidFill>
                  <a:srgbClr val="333333"/>
                </a:solidFill>
                <a:latin typeface="Calibri" pitchFamily="34" charset="0"/>
                <a:ea typeface="Calibri" pitchFamily="34" charset="-122"/>
                <a:cs typeface="Calibri" pitchFamily="34" charset="-120"/>
              </a:rPr>
              <a:t>Meals pause between bites. A 24 s median erases short real bouts.</a:t>
            </a:r>
            <a:endParaRPr lang="en-US" sz="1300" dirty="0"/>
          </a:p>
        </p:txBody>
      </p:sp>
      <p:sp>
        <p:nvSpPr>
          <p:cNvPr id="11" name="Shape 8"/>
          <p:cNvSpPr/>
          <p:nvPr/>
        </p:nvSpPr>
        <p:spPr>
          <a:xfrm>
            <a:off x="8458200" y="4617720"/>
            <a:ext cx="3291840" cy="1188720"/>
          </a:xfrm>
          <a:prstGeom prst="roundRect">
            <a:avLst>
              <a:gd name="adj" fmla="val 6154"/>
            </a:avLst>
          </a:prstGeom>
          <a:solidFill>
            <a:srgbClr val="E8EEF7"/>
          </a:solidFill>
          <a:ln w="12700">
            <a:solidFill>
              <a:srgbClr val="E8EEF7"/>
            </a:solidFill>
            <a:prstDash val="solid"/>
          </a:ln>
        </p:spPr>
      </p:sp>
      <p:sp>
        <p:nvSpPr>
          <p:cNvPr id="12" name="Text 9"/>
          <p:cNvSpPr txBox="1"/>
          <p:nvPr/>
        </p:nvSpPr>
        <p:spPr>
          <a:xfrm>
            <a:off x="8641080" y="4727448"/>
            <a:ext cx="2926080" cy="365760"/>
          </a:xfrm>
          <a:prstGeom prst="rect">
            <a:avLst/>
          </a:prstGeom>
          <a:noFill/>
          <a:ln/>
        </p:spPr>
        <p:txBody>
          <a:bodyPr wrap="square" lIns="0" tIns="0" rIns="0" bIns="0" rtlCol="0" anchor="ctr"/>
          <a:lstStyle/>
          <a:p>
            <a:pPr indent="0" marL="0">
              <a:buNone/>
            </a:pPr>
            <a:r>
              <a:rPr lang="en-US" sz="1600" b="1" dirty="0">
                <a:solidFill>
                  <a:srgbClr val="1F3864"/>
                </a:solidFill>
                <a:latin typeface="Calibri" pitchFamily="34" charset="0"/>
                <a:ea typeface="Calibri" pitchFamily="34" charset="-122"/>
                <a:cs typeface="Calibri" pitchFamily="34" charset="-120"/>
              </a:rPr>
              <a:t>Next</a:t>
            </a:r>
            <a:endParaRPr lang="en-US" sz="1600" dirty="0"/>
          </a:p>
        </p:txBody>
      </p:sp>
      <p:sp>
        <p:nvSpPr>
          <p:cNvPr id="13" name="Text 10"/>
          <p:cNvSpPr txBox="1"/>
          <p:nvPr/>
        </p:nvSpPr>
        <p:spPr>
          <a:xfrm>
            <a:off x="8641080" y="5120640"/>
            <a:ext cx="2926080" cy="594360"/>
          </a:xfrm>
          <a:prstGeom prst="rect">
            <a:avLst/>
          </a:prstGeom>
          <a:noFill/>
          <a:ln/>
        </p:spPr>
        <p:txBody>
          <a:bodyPr wrap="square" lIns="0" tIns="0" rIns="0" bIns="0" rtlCol="0" anchor="t"/>
          <a:lstStyle/>
          <a:p>
            <a:pPr indent="0" marL="0">
              <a:buNone/>
            </a:pPr>
            <a:r>
              <a:rPr lang="en-US" sz="1300" dirty="0">
                <a:solidFill>
                  <a:srgbClr val="333333"/>
                </a:solidFill>
                <a:latin typeface="Calibri" pitchFamily="34" charset="0"/>
                <a:ea typeface="Calibri" pitchFamily="34" charset="-122"/>
                <a:cs typeface="Calibri" pitchFamily="34" charset="-120"/>
              </a:rPr>
              <a:t>Rerun under LOSO for a paired test per participant.</a:t>
            </a:r>
            <a:endParaRPr lang="en-US" sz="1300" dirty="0"/>
          </a:p>
        </p:txBody>
      </p:sp>
      <p:sp>
        <p:nvSpPr>
          <p:cNvPr id="14" name="Text 11"/>
          <p:cNvSpPr txBox="1"/>
          <p:nvPr/>
        </p:nvSpPr>
        <p:spPr>
          <a:xfrm>
            <a:off x="457200" y="5989320"/>
            <a:ext cx="11247120" cy="365760"/>
          </a:xfrm>
          <a:prstGeom prst="rect">
            <a:avLst/>
          </a:prstGeom>
          <a:noFill/>
          <a:ln/>
        </p:spPr>
        <p:txBody>
          <a:bodyPr wrap="square" lIns="0" tIns="0" rIns="0" bIns="0" rtlCol="0" anchor="ctr"/>
          <a:lstStyle/>
          <a:p>
            <a:pPr indent="0" marL="0">
              <a:buNone/>
            </a:pPr>
            <a:r>
              <a:rPr lang="en-US" sz="1100" i="1" dirty="0">
                <a:solidFill>
                  <a:srgbClr val="5A6270"/>
                </a:solidFill>
                <a:latin typeface="Calibri" pitchFamily="34" charset="0"/>
                <a:ea typeface="Calibri" pitchFamily="34" charset="-122"/>
                <a:cs typeface="Calibri" pitchFamily="34" charset="-120"/>
              </a:rPr>
              <a:t>Fold to fold spread in F1 is about 0.048. Effects smaller than that cannot be separated from noise with 4 folds.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320040"/>
            <a:ext cx="11247120" cy="640080"/>
          </a:xfrm>
          <a:prstGeom prst="rect">
            <a:avLst/>
          </a:prstGeom>
          <a:noFill/>
          <a:ln/>
        </p:spPr>
        <p:txBody>
          <a:bodyPr wrap="square" lIns="0" tIns="0" rIns="0" bIns="0" rtlCol="0" anchor="ctr"/>
          <a:lstStyle/>
          <a:p>
            <a:pPr indent="0" marL="0">
              <a:buNone/>
            </a:pPr>
            <a:r>
              <a:rPr lang="en-US" sz="3400" b="1" dirty="0">
                <a:solidFill>
                  <a:srgbClr val="1F3864"/>
                </a:solidFill>
                <a:latin typeface="Calibri" pitchFamily="34" charset="0"/>
                <a:ea typeface="Calibri" pitchFamily="34" charset="-122"/>
                <a:cs typeface="Calibri" pitchFamily="34" charset="-120"/>
              </a:rPr>
              <a:t>Literature Review Progress</a:t>
            </a:r>
            <a:endParaRPr lang="en-US" sz="3400" dirty="0"/>
          </a:p>
        </p:txBody>
      </p:sp>
      <p:sp>
        <p:nvSpPr>
          <p:cNvPr id="3" name="Text 1"/>
          <p:cNvSpPr txBox="1"/>
          <p:nvPr/>
        </p:nvSpPr>
        <p:spPr>
          <a:xfrm>
            <a:off x="457200" y="932688"/>
            <a:ext cx="11247120" cy="365760"/>
          </a:xfrm>
          <a:prstGeom prst="rect">
            <a:avLst/>
          </a:prstGeom>
          <a:noFill/>
          <a:ln/>
        </p:spPr>
        <p:txBody>
          <a:bodyPr wrap="square" lIns="0" tIns="0" rIns="0" bIns="0" rtlCol="0" anchor="ctr"/>
          <a:lstStyle/>
          <a:p>
            <a:pPr indent="0" marL="0">
              <a:buNone/>
            </a:pPr>
            <a:r>
              <a:rPr lang="en-US" sz="1600" dirty="0">
                <a:solidFill>
                  <a:srgbClr val="2E5597"/>
                </a:solidFill>
                <a:latin typeface="Calibri" pitchFamily="34" charset="0"/>
                <a:ea typeface="Calibri" pitchFamily="34" charset="-122"/>
                <a:cs typeface="Calibri" pitchFamily="34" charset="-120"/>
              </a:rPr>
              <a:t>Seven papers read so far. A starting set, not yet a full survey.</a:t>
            </a:r>
            <a:endParaRPr lang="en-US" sz="1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11292840" cy="914400"/>
        </p:xfrm>
        <a:graphic>
          <a:graphicData uri="http://schemas.openxmlformats.org/drawingml/2006/table">
            <a:tbl>
              <a:tblPr/>
              <a:tblGrid>
                <a:gridCol w="3017520"/>
                <a:gridCol w="4206240"/>
                <a:gridCol w="4069080"/>
              </a:tblGrid>
              <a:tr h="475488">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Paper</a:t>
                      </a:r>
                      <a:endParaRPr lang="en-US" sz="13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What they did</a:t>
                      </a:r>
                      <a:endParaRPr lang="en-US" sz="13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Key finding</a:t>
                      </a:r>
                      <a:endParaRPr lang="en-US" sz="13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1F3864"/>
                    </a:solidFill>
                  </a:tcPr>
                </a:tc>
              </a:tr>
              <a:tr h="475488">
                <a:tc>
                  <a:txBody>
                    <a:bodyPr/>
                    <a:lstStyle/>
                    <a:p>
                      <a:pPr algn="l" indent="0" marL="0">
                        <a:buNone/>
                      </a:pPr>
                      <a:r>
                        <a:rPr lang="en-US" sz="1300" b="1" dirty="0">
                          <a:solidFill>
                            <a:srgbClr val="222222"/>
                          </a:solidFill>
                          <a:latin typeface="Calibri" pitchFamily="34" charset="0"/>
                          <a:ea typeface="Calibri" pitchFamily="34" charset="-122"/>
                          <a:cs typeface="Calibri" pitchFamily="34" charset="-120"/>
                        </a:rPr>
                        <a:t>Doulah et al. 2021, JBHI</a:t>
                      </a:r>
                      <a:endParaRPr lang="en-US" sz="13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222"/>
                          </a:solidFill>
                          <a:latin typeface="Calibri" pitchFamily="34" charset="0"/>
                          <a:ea typeface="Calibri" pitchFamily="34" charset="-122"/>
                          <a:cs typeface="Calibri" pitchFamily="34" charset="-120"/>
                        </a:rPr>
                        <a:t>AIM-2 introduced. Handcrafted features and SVM</a:t>
                      </a:r>
                      <a:endParaRPr lang="en-US" sz="13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222"/>
                          </a:solidFill>
                          <a:latin typeface="Calibri" pitchFamily="34" charset="0"/>
                          <a:ea typeface="Calibri" pitchFamily="34" charset="-122"/>
                          <a:cs typeface="Calibri" pitchFamily="34" charset="-120"/>
                        </a:rPr>
                        <a:t>F1 0.818. Camera captures only during eating</a:t>
                      </a:r>
                      <a:endParaRPr lang="en-US" sz="13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FFFFFF"/>
                    </a:solidFill>
                  </a:tcPr>
                </a:tc>
              </a:tr>
              <a:tr h="475488">
                <a:tc>
                  <a:txBody>
                    <a:bodyPr/>
                    <a:lstStyle/>
                    <a:p>
                      <a:pPr algn="l" indent="0" marL="0">
                        <a:buNone/>
                      </a:pPr>
                      <a:r>
                        <a:rPr lang="en-US" sz="1300" b="1" dirty="0">
                          <a:solidFill>
                            <a:srgbClr val="222222"/>
                          </a:solidFill>
                          <a:latin typeface="Calibri" pitchFamily="34" charset="0"/>
                          <a:ea typeface="Calibri" pitchFamily="34" charset="-122"/>
                          <a:cs typeface="Calibri" pitchFamily="34" charset="-120"/>
                        </a:rPr>
                        <a:t>Ghosh and Sazonov 2022, EMBC</a:t>
                      </a:r>
                      <a:endParaRPr lang="en-US" sz="13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F7F9FC"/>
                    </a:solidFill>
                  </a:tcPr>
                </a:tc>
                <a:tc>
                  <a:txBody>
                    <a:bodyPr/>
                    <a:lstStyle/>
                    <a:p>
                      <a:pPr algn="l" indent="0" marL="0">
                        <a:buNone/>
                      </a:pPr>
                      <a:r>
                        <a:rPr lang="en-US" sz="1300" dirty="0">
                          <a:solidFill>
                            <a:srgbClr val="222222"/>
                          </a:solidFill>
                          <a:latin typeface="Calibri" pitchFamily="34" charset="0"/>
                          <a:ea typeface="Calibri" pitchFamily="34" charset="-122"/>
                          <a:cs typeface="Calibri" pitchFamily="34" charset="-120"/>
                        </a:rPr>
                        <a:t>Five deep nets on raw accelerometer and optical signals</a:t>
                      </a:r>
                      <a:endParaRPr lang="en-US" sz="13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F7F9FC"/>
                    </a:solidFill>
                  </a:tcPr>
                </a:tc>
                <a:tc>
                  <a:txBody>
                    <a:bodyPr/>
                    <a:lstStyle/>
                    <a:p>
                      <a:pPr algn="l" indent="0" marL="0">
                        <a:buNone/>
                      </a:pPr>
                      <a:r>
                        <a:rPr lang="en-US" sz="1300" dirty="0">
                          <a:solidFill>
                            <a:srgbClr val="222222"/>
                          </a:solidFill>
                          <a:latin typeface="Calibri" pitchFamily="34" charset="0"/>
                          <a:ea typeface="Calibri" pitchFamily="34" charset="-122"/>
                          <a:cs typeface="Calibri" pitchFamily="34" charset="-120"/>
                        </a:rPr>
                        <a:t>ResNet best, F1 0.906. Closest to my work</a:t>
                      </a:r>
                      <a:endParaRPr lang="en-US" sz="13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F7F9FC"/>
                    </a:solidFill>
                  </a:tcPr>
                </a:tc>
              </a:tr>
              <a:tr h="475488">
                <a:tc>
                  <a:txBody>
                    <a:bodyPr/>
                    <a:lstStyle/>
                    <a:p>
                      <a:pPr algn="l" indent="0" marL="0">
                        <a:buNone/>
                      </a:pPr>
                      <a:r>
                        <a:rPr lang="en-US" sz="1300" b="1" dirty="0">
                          <a:solidFill>
                            <a:srgbClr val="222222"/>
                          </a:solidFill>
                          <a:latin typeface="Calibri" pitchFamily="34" charset="0"/>
                          <a:ea typeface="Calibri" pitchFamily="34" charset="-122"/>
                          <a:cs typeface="Calibri" pitchFamily="34" charset="-120"/>
                        </a:rPr>
                        <a:t>Ghosh et al. 2024, Sci. Reports</a:t>
                      </a:r>
                      <a:endParaRPr lang="en-US" sz="13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222"/>
                          </a:solidFill>
                          <a:latin typeface="Calibri" pitchFamily="34" charset="0"/>
                          <a:ea typeface="Calibri" pitchFamily="34" charset="-122"/>
                          <a:cs typeface="Calibri" pitchFamily="34" charset="-120"/>
                        </a:rPr>
                        <a:t>Wavelet image of accelerometer, fused with camera</a:t>
                      </a:r>
                      <a:endParaRPr lang="en-US" sz="13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222"/>
                          </a:solidFill>
                          <a:latin typeface="Calibri" pitchFamily="34" charset="0"/>
                          <a:ea typeface="Calibri" pitchFamily="34" charset="-122"/>
                          <a:cs typeface="Calibri" pitchFamily="34" charset="-120"/>
                        </a:rPr>
                        <a:t>Sensor F1 0.776. Fusion cuts false positives</a:t>
                      </a:r>
                      <a:endParaRPr lang="en-US" sz="13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FFFFFF"/>
                    </a:solidFill>
                  </a:tcPr>
                </a:tc>
              </a:tr>
              <a:tr h="475488">
                <a:tc>
                  <a:txBody>
                    <a:bodyPr/>
                    <a:lstStyle/>
                    <a:p>
                      <a:pPr algn="l" indent="0" marL="0">
                        <a:buNone/>
                      </a:pPr>
                      <a:r>
                        <a:rPr lang="en-US" sz="1300" b="1" dirty="0">
                          <a:solidFill>
                            <a:srgbClr val="222222"/>
                          </a:solidFill>
                          <a:latin typeface="Calibri" pitchFamily="34" charset="0"/>
                          <a:ea typeface="Calibri" pitchFamily="34" charset="-122"/>
                          <a:cs typeface="Calibri" pitchFamily="34" charset="-120"/>
                        </a:rPr>
                        <a:t>Diou et al. 2022, Appetite</a:t>
                      </a:r>
                      <a:endParaRPr lang="en-US" sz="13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F7F9FC"/>
                    </a:solidFill>
                  </a:tcPr>
                </a:tc>
                <a:tc>
                  <a:txBody>
                    <a:bodyPr/>
                    <a:lstStyle/>
                    <a:p>
                      <a:pPr algn="l" indent="0" marL="0">
                        <a:buNone/>
                      </a:pPr>
                      <a:r>
                        <a:rPr lang="en-US" sz="1300" dirty="0">
                          <a:solidFill>
                            <a:srgbClr val="222222"/>
                          </a:solidFill>
                          <a:latin typeface="Calibri" pitchFamily="34" charset="0"/>
                          <a:ea typeface="Calibri" pitchFamily="34" charset="-122"/>
                          <a:cs typeface="Calibri" pitchFamily="34" charset="-120"/>
                        </a:rPr>
                        <a:t>Smartwatch and in ear audio, CNN with LSTM</a:t>
                      </a:r>
                      <a:endParaRPr lang="en-US" sz="13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F7F9FC"/>
                    </a:solidFill>
                  </a:tcPr>
                </a:tc>
                <a:tc>
                  <a:txBody>
                    <a:bodyPr/>
                    <a:lstStyle/>
                    <a:p>
                      <a:pPr algn="l" indent="0" marL="0">
                        <a:buNone/>
                      </a:pPr>
                      <a:r>
                        <a:rPr lang="en-US" sz="1300" dirty="0">
                          <a:solidFill>
                            <a:srgbClr val="222222"/>
                          </a:solidFill>
                          <a:latin typeface="Calibri" pitchFamily="34" charset="0"/>
                          <a:ea typeface="Calibri" pitchFamily="34" charset="-122"/>
                          <a:cs typeface="Calibri" pitchFamily="34" charset="-120"/>
                        </a:rPr>
                        <a:t>Self supervised learning works with few labels</a:t>
                      </a:r>
                      <a:endParaRPr lang="en-US" sz="13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F7F9FC"/>
                    </a:solidFill>
                  </a:tcPr>
                </a:tc>
              </a:tr>
              <a:tr h="475488">
                <a:tc>
                  <a:txBody>
                    <a:bodyPr/>
                    <a:lstStyle/>
                    <a:p>
                      <a:pPr algn="l" indent="0" marL="0">
                        <a:buNone/>
                      </a:pPr>
                      <a:r>
                        <a:rPr lang="en-US" sz="1300" b="1" dirty="0">
                          <a:solidFill>
                            <a:srgbClr val="222222"/>
                          </a:solidFill>
                          <a:latin typeface="Calibri" pitchFamily="34" charset="0"/>
                          <a:ea typeface="Calibri" pitchFamily="34" charset="-122"/>
                          <a:cs typeface="Calibri" pitchFamily="34" charset="-120"/>
                        </a:rPr>
                        <a:t>Usman and Chen 2021, survey</a:t>
                      </a:r>
                      <a:endParaRPr lang="en-US" sz="13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222"/>
                          </a:solidFill>
                          <a:latin typeface="Calibri" pitchFamily="34" charset="0"/>
                          <a:ea typeface="Calibri" pitchFamily="34" charset="-122"/>
                          <a:cs typeface="Calibri" pitchFamily="34" charset="-120"/>
                        </a:rPr>
                        <a:t>Review of wearable intake sensors</a:t>
                      </a:r>
                      <a:endParaRPr lang="en-US" sz="13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222"/>
                          </a:solidFill>
                          <a:latin typeface="Calibri" pitchFamily="34" charset="0"/>
                          <a:ea typeface="Calibri" pitchFamily="34" charset="-122"/>
                          <a:cs typeface="Calibri" pitchFamily="34" charset="-120"/>
                        </a:rPr>
                        <a:t>Most work still uses handcrafted features</a:t>
                      </a:r>
                      <a:endParaRPr lang="en-US" sz="13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FFFFFF"/>
                    </a:solidFill>
                  </a:tcPr>
                </a:tc>
              </a:tr>
              <a:tr h="475488">
                <a:tc>
                  <a:txBody>
                    <a:bodyPr/>
                    <a:lstStyle/>
                    <a:p>
                      <a:pPr algn="l" indent="0" marL="0">
                        <a:buNone/>
                      </a:pPr>
                      <a:r>
                        <a:rPr lang="en-US" sz="1300" b="1" dirty="0">
                          <a:solidFill>
                            <a:srgbClr val="222222"/>
                          </a:solidFill>
                          <a:latin typeface="Calibri" pitchFamily="34" charset="0"/>
                          <a:ea typeface="Calibri" pitchFamily="34" charset="-122"/>
                          <a:cs typeface="Calibri" pitchFamily="34" charset="-120"/>
                        </a:rPr>
                        <a:t>Yang et al. 2026, Phys. Comm.</a:t>
                      </a:r>
                      <a:endParaRPr lang="en-US" sz="13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F7F9FC"/>
                    </a:solidFill>
                  </a:tcPr>
                </a:tc>
                <a:tc>
                  <a:txBody>
                    <a:bodyPr/>
                    <a:lstStyle/>
                    <a:p>
                      <a:pPr algn="l" indent="0" marL="0">
                        <a:buNone/>
                      </a:pPr>
                      <a:r>
                        <a:rPr lang="en-US" sz="1300" dirty="0">
                          <a:solidFill>
                            <a:srgbClr val="222222"/>
                          </a:solidFill>
                          <a:latin typeface="Calibri" pitchFamily="34" charset="0"/>
                          <a:ea typeface="Calibri" pitchFamily="34" charset="-122"/>
                          <a:cs typeface="Calibri" pitchFamily="34" charset="-120"/>
                        </a:rPr>
                        <a:t>Transformer for radio signals</a:t>
                      </a:r>
                      <a:endParaRPr lang="en-US" sz="13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F7F9FC"/>
                    </a:solidFill>
                  </a:tcPr>
                </a:tc>
                <a:tc>
                  <a:txBody>
                    <a:bodyPr/>
                    <a:lstStyle/>
                    <a:p>
                      <a:pPr algn="l" indent="0" marL="0">
                        <a:buNone/>
                      </a:pPr>
                      <a:r>
                        <a:rPr lang="en-US" sz="1300" dirty="0">
                          <a:solidFill>
                            <a:srgbClr val="222222"/>
                          </a:solidFill>
                          <a:latin typeface="Calibri" pitchFamily="34" charset="0"/>
                          <a:ea typeface="Calibri" pitchFamily="34" charset="-122"/>
                          <a:cs typeface="Calibri" pitchFamily="34" charset="-120"/>
                        </a:rPr>
                        <a:t>Augmentation helps. Needs about 100,000 signals</a:t>
                      </a:r>
                      <a:endParaRPr lang="en-US" sz="13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F7F9FC"/>
                    </a:solidFill>
                  </a:tcPr>
                </a:tc>
              </a:tr>
              <a:tr h="475488">
                <a:tc>
                  <a:txBody>
                    <a:bodyPr/>
                    <a:lstStyle/>
                    <a:p>
                      <a:pPr algn="l" indent="0" marL="0">
                        <a:buNone/>
                      </a:pPr>
                      <a:r>
                        <a:rPr lang="en-US" sz="1300" b="1" dirty="0">
                          <a:solidFill>
                            <a:srgbClr val="222222"/>
                          </a:solidFill>
                          <a:latin typeface="Calibri" pitchFamily="34" charset="0"/>
                          <a:ea typeface="Calibri" pitchFamily="34" charset="-122"/>
                          <a:cs typeface="Calibri" pitchFamily="34" charset="-120"/>
                        </a:rPr>
                        <a:t>Ikram et al. 2025, Front. Med.</a:t>
                      </a:r>
                      <a:endParaRPr lang="en-US" sz="13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222"/>
                          </a:solidFill>
                          <a:latin typeface="Calibri" pitchFamily="34" charset="0"/>
                          <a:ea typeface="Calibri" pitchFamily="34" charset="-122"/>
                          <a:cs typeface="Calibri" pitchFamily="34" charset="-120"/>
                        </a:rPr>
                        <a:t>Transformer for ECG</a:t>
                      </a:r>
                      <a:endParaRPr lang="en-US" sz="13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22222"/>
                          </a:solidFill>
                          <a:latin typeface="Calibri" pitchFamily="34" charset="0"/>
                          <a:ea typeface="Calibri" pitchFamily="34" charset="-122"/>
                          <a:cs typeface="Calibri" pitchFamily="34" charset="-120"/>
                        </a:rPr>
                        <a:t>97% accuracy, but no patient level split</a:t>
                      </a:r>
                      <a:endParaRPr lang="en-US" sz="13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FFFFFF"/>
                    </a:solidFill>
                  </a:tcPr>
                </a:tc>
              </a:tr>
            </a:tbl>
          </a:graphicData>
        </a:graphic>
      </p:graphicFrame>
      <p:sp>
        <p:nvSpPr>
          <p:cNvPr id="5" name="Shape 2"/>
          <p:cNvSpPr/>
          <p:nvPr/>
        </p:nvSpPr>
        <p:spPr>
          <a:xfrm>
            <a:off x="457200" y="5440680"/>
            <a:ext cx="3648456" cy="822960"/>
          </a:xfrm>
          <a:prstGeom prst="roundRect">
            <a:avLst>
              <a:gd name="adj" fmla="val 8889"/>
            </a:avLst>
          </a:prstGeom>
          <a:solidFill>
            <a:srgbClr val="E8EEF7"/>
          </a:solidFill>
          <a:ln w="12700">
            <a:solidFill>
              <a:srgbClr val="E8EEF7"/>
            </a:solidFill>
            <a:prstDash val="solid"/>
          </a:ln>
        </p:spPr>
      </p:sp>
      <p:sp>
        <p:nvSpPr>
          <p:cNvPr id="6" name="Text 3"/>
          <p:cNvSpPr txBox="1"/>
          <p:nvPr/>
        </p:nvSpPr>
        <p:spPr>
          <a:xfrm>
            <a:off x="640080" y="5440680"/>
            <a:ext cx="3291840" cy="822960"/>
          </a:xfrm>
          <a:prstGeom prst="rect">
            <a:avLst/>
          </a:prstGeom>
          <a:noFill/>
          <a:ln/>
        </p:spPr>
        <p:txBody>
          <a:bodyPr wrap="square" lIns="0" tIns="0" rIns="0" bIns="0" rtlCol="0" anchor="ctr"/>
          <a:lstStyle/>
          <a:p>
            <a:pPr indent="0" marL="0">
              <a:buNone/>
            </a:pPr>
            <a:r>
              <a:rPr lang="en-US" sz="1400" b="1" dirty="0">
                <a:solidFill>
                  <a:srgbClr val="1F3864"/>
                </a:solidFill>
                <a:latin typeface="Calibri" pitchFamily="34" charset="0"/>
                <a:ea typeface="Calibri" pitchFamily="34" charset="-122"/>
                <a:cs typeface="Calibri" pitchFamily="34" charset="-120"/>
              </a:rPr>
              <a:t>Proven   </a:t>
            </a:r>
            <a:pPr indent="0" marL="0">
              <a:buNone/>
            </a:pPr>
            <a:r>
              <a:rPr lang="en-US" sz="1400" dirty="0">
                <a:solidFill>
                  <a:srgbClr val="333333"/>
                </a:solidFill>
                <a:latin typeface="Calibri" pitchFamily="34" charset="0"/>
                <a:ea typeface="Calibri" pitchFamily="34" charset="-122"/>
                <a:cs typeface="Calibri" pitchFamily="34" charset="-120"/>
              </a:rPr>
              <a:t>CNNs on raw time series</a:t>
            </a:r>
            <a:endParaRPr lang="en-US" sz="1400" dirty="0"/>
          </a:p>
        </p:txBody>
      </p:sp>
      <p:sp>
        <p:nvSpPr>
          <p:cNvPr id="7" name="Shape 4"/>
          <p:cNvSpPr/>
          <p:nvPr/>
        </p:nvSpPr>
        <p:spPr>
          <a:xfrm>
            <a:off x="4279392" y="5440680"/>
            <a:ext cx="3648456" cy="822960"/>
          </a:xfrm>
          <a:prstGeom prst="roundRect">
            <a:avLst>
              <a:gd name="adj" fmla="val 8889"/>
            </a:avLst>
          </a:prstGeom>
          <a:solidFill>
            <a:srgbClr val="E8EEF7"/>
          </a:solidFill>
          <a:ln w="12700">
            <a:solidFill>
              <a:srgbClr val="E8EEF7"/>
            </a:solidFill>
            <a:prstDash val="solid"/>
          </a:ln>
        </p:spPr>
      </p:sp>
      <p:sp>
        <p:nvSpPr>
          <p:cNvPr id="8" name="Text 5"/>
          <p:cNvSpPr txBox="1"/>
          <p:nvPr/>
        </p:nvSpPr>
        <p:spPr>
          <a:xfrm>
            <a:off x="4462272" y="5440680"/>
            <a:ext cx="3291840" cy="822960"/>
          </a:xfrm>
          <a:prstGeom prst="rect">
            <a:avLst/>
          </a:prstGeom>
          <a:noFill/>
          <a:ln/>
        </p:spPr>
        <p:txBody>
          <a:bodyPr wrap="square" lIns="0" tIns="0" rIns="0" bIns="0" rtlCol="0" anchor="ctr"/>
          <a:lstStyle/>
          <a:p>
            <a:pPr indent="0" marL="0">
              <a:buNone/>
            </a:pPr>
            <a:r>
              <a:rPr lang="en-US" sz="1400" b="1" dirty="0">
                <a:solidFill>
                  <a:srgbClr val="1F3864"/>
                </a:solidFill>
                <a:latin typeface="Calibri" pitchFamily="34" charset="0"/>
                <a:ea typeface="Calibri" pitchFamily="34" charset="-122"/>
                <a:cs typeface="Calibri" pitchFamily="34" charset="-120"/>
              </a:rPr>
              <a:t>Gap   </a:t>
            </a:r>
            <a:pPr indent="0" marL="0">
              <a:buNone/>
            </a:pPr>
            <a:r>
              <a:rPr lang="en-US" sz="1400" dirty="0">
                <a:solidFill>
                  <a:srgbClr val="333333"/>
                </a:solidFill>
                <a:latin typeface="Calibri" pitchFamily="34" charset="0"/>
                <a:ea typeface="Calibri" pitchFamily="34" charset="-122"/>
                <a:cs typeface="Calibri" pitchFamily="34" charset="-120"/>
              </a:rPr>
              <a:t>Little work with limited annotation</a:t>
            </a:r>
            <a:endParaRPr lang="en-US" sz="1400" dirty="0"/>
          </a:p>
        </p:txBody>
      </p:sp>
      <p:sp>
        <p:nvSpPr>
          <p:cNvPr id="9" name="Shape 6"/>
          <p:cNvSpPr/>
          <p:nvPr/>
        </p:nvSpPr>
        <p:spPr>
          <a:xfrm>
            <a:off x="8101584" y="5440680"/>
            <a:ext cx="3648456" cy="822960"/>
          </a:xfrm>
          <a:prstGeom prst="roundRect">
            <a:avLst>
              <a:gd name="adj" fmla="val 8889"/>
            </a:avLst>
          </a:prstGeom>
          <a:solidFill>
            <a:srgbClr val="1F3864"/>
          </a:solidFill>
          <a:ln w="12700">
            <a:solidFill>
              <a:srgbClr val="1F3864"/>
            </a:solidFill>
            <a:prstDash val="solid"/>
          </a:ln>
        </p:spPr>
      </p:sp>
      <p:sp>
        <p:nvSpPr>
          <p:cNvPr id="10" name="Text 7"/>
          <p:cNvSpPr txBox="1"/>
          <p:nvPr/>
        </p:nvSpPr>
        <p:spPr>
          <a:xfrm>
            <a:off x="8284464" y="5440680"/>
            <a:ext cx="3291840" cy="8229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Direction   </a:t>
            </a:r>
            <a:pPr indent="0" marL="0">
              <a:buNone/>
            </a:pPr>
            <a:r>
              <a:rPr lang="en-US" sz="1400" dirty="0">
                <a:solidFill>
                  <a:srgbClr val="FFFFFF"/>
                </a:solidFill>
                <a:latin typeface="Calibri" pitchFamily="34" charset="0"/>
                <a:ea typeface="Calibri" pitchFamily="34" charset="-122"/>
                <a:cs typeface="Calibri" pitchFamily="34" charset="-120"/>
              </a:rPr>
              <a:t>Label efficiency on AIM data</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320040"/>
            <a:ext cx="11247120" cy="640080"/>
          </a:xfrm>
          <a:prstGeom prst="rect">
            <a:avLst/>
          </a:prstGeom>
          <a:noFill/>
          <a:ln/>
        </p:spPr>
        <p:txBody>
          <a:bodyPr wrap="square" lIns="0" tIns="0" rIns="0" bIns="0" rtlCol="0" anchor="ctr"/>
          <a:lstStyle/>
          <a:p>
            <a:pPr indent="0" marL="0">
              <a:buNone/>
            </a:pPr>
            <a:r>
              <a:rPr lang="en-US" sz="3400" b="1" dirty="0">
                <a:solidFill>
                  <a:srgbClr val="1F3864"/>
                </a:solidFill>
                <a:latin typeface="Calibri" pitchFamily="34" charset="0"/>
                <a:ea typeface="Calibri" pitchFamily="34" charset="-122"/>
                <a:cs typeface="Calibri" pitchFamily="34" charset="-120"/>
              </a:rPr>
              <a:t>Annotation Alignment Check</a:t>
            </a:r>
            <a:endParaRPr lang="en-US" sz="3400" dirty="0"/>
          </a:p>
        </p:txBody>
      </p:sp>
      <p:sp>
        <p:nvSpPr>
          <p:cNvPr id="3" name="Text 1"/>
          <p:cNvSpPr txBox="1"/>
          <p:nvPr/>
        </p:nvSpPr>
        <p:spPr>
          <a:xfrm>
            <a:off x="457200" y="932688"/>
            <a:ext cx="11247120" cy="365760"/>
          </a:xfrm>
          <a:prstGeom prst="rect">
            <a:avLst/>
          </a:prstGeom>
          <a:noFill/>
          <a:ln/>
        </p:spPr>
        <p:txBody>
          <a:bodyPr wrap="square" lIns="0" tIns="0" rIns="0" bIns="0" rtlCol="0" anchor="ctr"/>
          <a:lstStyle/>
          <a:p>
            <a:pPr indent="0" marL="0">
              <a:buNone/>
            </a:pPr>
            <a:r>
              <a:rPr lang="en-US" sz="1600" dirty="0">
                <a:solidFill>
                  <a:srgbClr val="2E5597"/>
                </a:solidFill>
                <a:latin typeface="Calibri" pitchFamily="34" charset="0"/>
                <a:ea typeface="Calibri" pitchFamily="34" charset="-122"/>
                <a:cs typeface="Calibri" pitchFamily="34" charset="-120"/>
              </a:rPr>
              <a:t>Verified on the new database before training. No time correction is needed.</a:t>
            </a:r>
            <a:endParaRPr lang="en-US" sz="1600" dirty="0"/>
          </a:p>
        </p:txBody>
      </p:sp>
      <p:sp>
        <p:nvSpPr>
          <p:cNvPr id="4" name="Shape 2"/>
          <p:cNvSpPr/>
          <p:nvPr/>
        </p:nvSpPr>
        <p:spPr>
          <a:xfrm>
            <a:off x="457200" y="1545336"/>
            <a:ext cx="384048" cy="384048"/>
          </a:xfrm>
          <a:prstGeom prst="ellipse">
            <a:avLst/>
          </a:prstGeom>
          <a:solidFill>
            <a:srgbClr val="1F3864"/>
          </a:solidFill>
          <a:ln w="12700">
            <a:solidFill>
              <a:srgbClr val="1F3864"/>
            </a:solidFill>
            <a:prstDash val="solid"/>
          </a:ln>
        </p:spPr>
      </p:sp>
      <p:sp>
        <p:nvSpPr>
          <p:cNvPr id="5" name="Text 3"/>
          <p:cNvSpPr txBox="1"/>
          <p:nvPr/>
        </p:nvSpPr>
        <p:spPr>
          <a:xfrm>
            <a:off x="457200" y="154533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1005840" y="1508760"/>
            <a:ext cx="4754880" cy="566928"/>
          </a:xfrm>
          <a:prstGeom prst="rect">
            <a:avLst/>
          </a:prstGeom>
          <a:noFill/>
          <a:ln/>
        </p:spPr>
        <p:txBody>
          <a:bodyPr wrap="square" lIns="0" tIns="0" rIns="0" bIns="0" rtlCol="0" anchor="ctr"/>
          <a:lstStyle/>
          <a:p>
            <a:pPr indent="0" marL="0">
              <a:buNone/>
            </a:pPr>
            <a:r>
              <a:rPr lang="en-US" sz="1300" dirty="0">
                <a:solidFill>
                  <a:srgbClr val="333333"/>
                </a:solidFill>
                <a:latin typeface="Calibri" pitchFamily="34" charset="0"/>
                <a:ea typeface="Calibri" pitchFamily="34" charset="-122"/>
                <a:cs typeface="Calibri" pitchFamily="34" charset="-120"/>
              </a:rPr>
              <a:t>Build the eating mask from the database labels, bout or bite, at 10 Hz</a:t>
            </a:r>
            <a:endParaRPr lang="en-US" sz="1300" dirty="0"/>
          </a:p>
        </p:txBody>
      </p:sp>
      <p:sp>
        <p:nvSpPr>
          <p:cNvPr id="7" name="Shape 5"/>
          <p:cNvSpPr/>
          <p:nvPr/>
        </p:nvSpPr>
        <p:spPr>
          <a:xfrm>
            <a:off x="457200" y="2203704"/>
            <a:ext cx="384048" cy="384048"/>
          </a:xfrm>
          <a:prstGeom prst="ellipse">
            <a:avLst/>
          </a:prstGeom>
          <a:solidFill>
            <a:srgbClr val="1F3864"/>
          </a:solidFill>
          <a:ln w="12700">
            <a:solidFill>
              <a:srgbClr val="1F3864"/>
            </a:solidFill>
            <a:prstDash val="solid"/>
          </a:ln>
        </p:spPr>
      </p:sp>
      <p:sp>
        <p:nvSpPr>
          <p:cNvPr id="8" name="Text 6"/>
          <p:cNvSpPr txBox="1"/>
          <p:nvPr/>
        </p:nvSpPr>
        <p:spPr>
          <a:xfrm>
            <a:off x="457200" y="220370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9" name="Text 7"/>
          <p:cNvSpPr txBox="1"/>
          <p:nvPr/>
        </p:nvSpPr>
        <p:spPr>
          <a:xfrm>
            <a:off x="1005840" y="2167128"/>
            <a:ext cx="4754880" cy="566928"/>
          </a:xfrm>
          <a:prstGeom prst="rect">
            <a:avLst/>
          </a:prstGeom>
          <a:noFill/>
          <a:ln/>
        </p:spPr>
        <p:txBody>
          <a:bodyPr wrap="square" lIns="0" tIns="0" rIns="0" bIns="0" rtlCol="0" anchor="ctr"/>
          <a:lstStyle/>
          <a:p>
            <a:pPr indent="0" marL="0">
              <a:buNone/>
            </a:pPr>
            <a:r>
              <a:rPr lang="en-US" sz="1300" dirty="0">
                <a:solidFill>
                  <a:srgbClr val="333333"/>
                </a:solidFill>
                <a:latin typeface="Calibri" pitchFamily="34" charset="0"/>
                <a:ea typeface="Calibri" pitchFamily="34" charset="-122"/>
                <a:cs typeface="Calibri" pitchFamily="34" charset="-120"/>
              </a:rPr>
              <a:t>Turn the optical signal into chewing activity. Filter to 0.8 to 3 Hz, take the envelope, resample to 10 Hz</a:t>
            </a:r>
            <a:endParaRPr lang="en-US" sz="1300" dirty="0"/>
          </a:p>
        </p:txBody>
      </p:sp>
      <p:sp>
        <p:nvSpPr>
          <p:cNvPr id="10" name="Shape 8"/>
          <p:cNvSpPr/>
          <p:nvPr/>
        </p:nvSpPr>
        <p:spPr>
          <a:xfrm>
            <a:off x="457200" y="2862072"/>
            <a:ext cx="384048" cy="384048"/>
          </a:xfrm>
          <a:prstGeom prst="ellipse">
            <a:avLst/>
          </a:prstGeom>
          <a:solidFill>
            <a:srgbClr val="1F3864"/>
          </a:solidFill>
          <a:ln w="12700">
            <a:solidFill>
              <a:srgbClr val="1F3864"/>
            </a:solidFill>
            <a:prstDash val="solid"/>
          </a:ln>
        </p:spPr>
      </p:sp>
      <p:sp>
        <p:nvSpPr>
          <p:cNvPr id="11" name="Text 9"/>
          <p:cNvSpPr txBox="1"/>
          <p:nvPr/>
        </p:nvSpPr>
        <p:spPr>
          <a:xfrm>
            <a:off x="457200" y="28620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2" name="Text 10"/>
          <p:cNvSpPr txBox="1"/>
          <p:nvPr/>
        </p:nvSpPr>
        <p:spPr>
          <a:xfrm>
            <a:off x="1005840" y="2825496"/>
            <a:ext cx="4754880" cy="566928"/>
          </a:xfrm>
          <a:prstGeom prst="rect">
            <a:avLst/>
          </a:prstGeom>
          <a:noFill/>
          <a:ln/>
        </p:spPr>
        <p:txBody>
          <a:bodyPr wrap="square" lIns="0" tIns="0" rIns="0" bIns="0" rtlCol="0" anchor="ctr"/>
          <a:lstStyle/>
          <a:p>
            <a:pPr indent="0" marL="0">
              <a:buNone/>
            </a:pPr>
            <a:r>
              <a:rPr lang="en-US" sz="1300" dirty="0">
                <a:solidFill>
                  <a:srgbClr val="333333"/>
                </a:solidFill>
                <a:latin typeface="Calibri" pitchFamily="34" charset="0"/>
                <a:ea typeface="Calibri" pitchFamily="34" charset="-122"/>
                <a:cs typeface="Calibri" pitchFamily="34" charset="-120"/>
              </a:rPr>
              <a:t>Slide one against the other from -30 s to +30 s in 0.1 s steps and measure the correlation</a:t>
            </a:r>
            <a:endParaRPr lang="en-US" sz="1300" dirty="0"/>
          </a:p>
        </p:txBody>
      </p:sp>
      <p:sp>
        <p:nvSpPr>
          <p:cNvPr id="13" name="Shape 11"/>
          <p:cNvSpPr/>
          <p:nvPr/>
        </p:nvSpPr>
        <p:spPr>
          <a:xfrm>
            <a:off x="457200" y="3520440"/>
            <a:ext cx="384048" cy="384048"/>
          </a:xfrm>
          <a:prstGeom prst="ellipse">
            <a:avLst/>
          </a:prstGeom>
          <a:solidFill>
            <a:srgbClr val="1F3864"/>
          </a:solidFill>
          <a:ln w="12700">
            <a:solidFill>
              <a:srgbClr val="1F3864"/>
            </a:solidFill>
            <a:prstDash val="solid"/>
          </a:ln>
        </p:spPr>
      </p:sp>
      <p:sp>
        <p:nvSpPr>
          <p:cNvPr id="14" name="Text 12"/>
          <p:cNvSpPr txBox="1"/>
          <p:nvPr/>
        </p:nvSpPr>
        <p:spPr>
          <a:xfrm>
            <a:off x="457200" y="35204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5" name="Text 13"/>
          <p:cNvSpPr txBox="1"/>
          <p:nvPr/>
        </p:nvSpPr>
        <p:spPr>
          <a:xfrm>
            <a:off x="1005840" y="3483864"/>
            <a:ext cx="4754880" cy="566928"/>
          </a:xfrm>
          <a:prstGeom prst="rect">
            <a:avLst/>
          </a:prstGeom>
          <a:noFill/>
          <a:ln/>
        </p:spPr>
        <p:txBody>
          <a:bodyPr wrap="square" lIns="0" tIns="0" rIns="0" bIns="0" rtlCol="0" anchor="ctr"/>
          <a:lstStyle/>
          <a:p>
            <a:pPr indent="0" marL="0">
              <a:buNone/>
            </a:pPr>
            <a:r>
              <a:rPr lang="en-US" sz="1300" dirty="0">
                <a:solidFill>
                  <a:srgbClr val="333333"/>
                </a:solidFill>
                <a:latin typeface="Calibri" pitchFamily="34" charset="0"/>
                <a:ea typeface="Calibri" pitchFamily="34" charset="-122"/>
                <a:cs typeface="Calibri" pitchFamily="34" charset="-120"/>
              </a:rPr>
              <a:t>The best lag is the offset. Sessions with a weak peak are flagged unreliable</a:t>
            </a:r>
            <a:endParaRPr lang="en-US" sz="1300" dirty="0"/>
          </a:p>
        </p:txBody>
      </p:sp>
      <p:sp>
        <p:nvSpPr>
          <p:cNvPr id="16" name="Shape 14"/>
          <p:cNvSpPr/>
          <p:nvPr/>
        </p:nvSpPr>
        <p:spPr>
          <a:xfrm>
            <a:off x="457200" y="4178808"/>
            <a:ext cx="384048" cy="384048"/>
          </a:xfrm>
          <a:prstGeom prst="ellipse">
            <a:avLst/>
          </a:prstGeom>
          <a:solidFill>
            <a:srgbClr val="1F3864"/>
          </a:solidFill>
          <a:ln w="12700">
            <a:solidFill>
              <a:srgbClr val="1F3864"/>
            </a:solidFill>
            <a:prstDash val="solid"/>
          </a:ln>
        </p:spPr>
      </p:sp>
      <p:sp>
        <p:nvSpPr>
          <p:cNvPr id="17" name="Text 15"/>
          <p:cNvSpPr txBox="1"/>
          <p:nvPr/>
        </p:nvSpPr>
        <p:spPr>
          <a:xfrm>
            <a:off x="457200" y="41788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8" name="Text 16"/>
          <p:cNvSpPr txBox="1"/>
          <p:nvPr/>
        </p:nvSpPr>
        <p:spPr>
          <a:xfrm>
            <a:off x="1005840" y="4142232"/>
            <a:ext cx="4754880" cy="566928"/>
          </a:xfrm>
          <a:prstGeom prst="rect">
            <a:avLst/>
          </a:prstGeom>
          <a:noFill/>
          <a:ln/>
        </p:spPr>
        <p:txBody>
          <a:bodyPr wrap="square" lIns="0" tIns="0" rIns="0" bIns="0" rtlCol="0" anchor="ctr"/>
          <a:lstStyle/>
          <a:p>
            <a:pPr indent="0" marL="0">
              <a:buNone/>
            </a:pPr>
            <a:r>
              <a:rPr lang="en-US" sz="1300" dirty="0">
                <a:solidFill>
                  <a:srgbClr val="333333"/>
                </a:solidFill>
                <a:latin typeface="Calibri" pitchFamily="34" charset="0"/>
                <a:ea typeface="Calibri" pitchFamily="34" charset="-122"/>
                <a:cs typeface="Calibri" pitchFamily="34" charset="-120"/>
              </a:rPr>
              <a:t>Repeat reading each timestamp as packet start and as packet end</a:t>
            </a:r>
            <a:endParaRPr lang="en-US" sz="1300" dirty="0"/>
          </a:p>
        </p:txBody>
      </p:sp>
      <p:graphicFrame>
        <p:nvGraphicFramePr>
          <p:cNvPr id="19" name="Chart 0" descr=""/>
          <p:cNvGraphicFramePr/>
          <p:nvPr/>
        </p:nvGraphicFramePr>
        <p:xfrm>
          <a:off x="6035040" y="1417320"/>
          <a:ext cx="5715000" cy="251460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035040" y="4114800"/>
          <a:ext cx="5715000" cy="914400"/>
        </p:xfrm>
        <a:graphic>
          <a:graphicData uri="http://schemas.openxmlformats.org/drawingml/2006/table">
            <a:tbl>
              <a:tblPr/>
              <a:tblGrid>
                <a:gridCol w="1737360"/>
                <a:gridCol w="1234440"/>
                <a:gridCol w="1188720"/>
                <a:gridCol w="1554480"/>
              </a:tblGrid>
              <a:tr h="411480">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Timestamp read as</a:t>
                      </a:r>
                      <a:endParaRPr lang="en-US" sz="13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1F3864"/>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Median lag</a:t>
                      </a:r>
                      <a:endParaRPr lang="en-US" sz="13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1F3864"/>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Within 1 s</a:t>
                      </a:r>
                      <a:endParaRPr lang="en-US" sz="13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1F3864"/>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Peak correlation</a:t>
                      </a:r>
                      <a:endParaRPr lang="en-US" sz="13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1F3864"/>
                    </a:solidFill>
                  </a:tcPr>
                </a:tc>
              </a:tr>
              <a:tr h="411480">
                <a:tc>
                  <a:txBody>
                    <a:bodyPr/>
                    <a:lstStyle/>
                    <a:p>
                      <a:pPr algn="l" indent="0" marL="0">
                        <a:buNone/>
                      </a:pPr>
                      <a:r>
                        <a:rPr lang="en-US" sz="1300" b="1" dirty="0">
                          <a:solidFill>
                            <a:srgbClr val="1F3864"/>
                          </a:solidFill>
                          <a:latin typeface="Calibri" pitchFamily="34" charset="0"/>
                          <a:ea typeface="Calibri" pitchFamily="34" charset="-122"/>
                          <a:cs typeface="Calibri" pitchFamily="34" charset="-120"/>
                        </a:rPr>
                        <a:t>Packet start</a:t>
                      </a:r>
                      <a:endParaRPr lang="en-US" sz="13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E8EEF7"/>
                    </a:solidFill>
                  </a:tcPr>
                </a:tc>
                <a:tc>
                  <a:txBody>
                    <a:bodyPr/>
                    <a:lstStyle/>
                    <a:p>
                      <a:pPr algn="ctr" indent="0" marL="0">
                        <a:buNone/>
                      </a:pPr>
                      <a:r>
                        <a:rPr lang="en-US" sz="1300" b="1" dirty="0">
                          <a:solidFill>
                            <a:srgbClr val="1F3864"/>
                          </a:solidFill>
                          <a:latin typeface="Calibri" pitchFamily="34" charset="0"/>
                          <a:ea typeface="Calibri" pitchFamily="34" charset="-122"/>
                          <a:cs typeface="Calibri" pitchFamily="34" charset="-120"/>
                        </a:rPr>
                        <a:t>+0.10 s</a:t>
                      </a:r>
                      <a:endParaRPr lang="en-US" sz="13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E8EEF7"/>
                    </a:solidFill>
                  </a:tcPr>
                </a:tc>
                <a:tc>
                  <a:txBody>
                    <a:bodyPr/>
                    <a:lstStyle/>
                    <a:p>
                      <a:pPr algn="ctr" indent="0" marL="0">
                        <a:buNone/>
                      </a:pPr>
                      <a:r>
                        <a:rPr lang="en-US" sz="1300" b="1" dirty="0">
                          <a:solidFill>
                            <a:srgbClr val="1F3864"/>
                          </a:solidFill>
                          <a:latin typeface="Calibri" pitchFamily="34" charset="0"/>
                          <a:ea typeface="Calibri" pitchFamily="34" charset="-122"/>
                          <a:cs typeface="Calibri" pitchFamily="34" charset="-120"/>
                        </a:rPr>
                        <a:t>20 of 20</a:t>
                      </a:r>
                      <a:endParaRPr lang="en-US" sz="13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E8EEF7"/>
                    </a:solidFill>
                  </a:tcPr>
                </a:tc>
                <a:tc>
                  <a:txBody>
                    <a:bodyPr/>
                    <a:lstStyle/>
                    <a:p>
                      <a:pPr algn="ctr" indent="0" marL="0">
                        <a:buNone/>
                      </a:pPr>
                      <a:r>
                        <a:rPr lang="en-US" sz="1300" b="1" dirty="0">
                          <a:solidFill>
                            <a:srgbClr val="1F3864"/>
                          </a:solidFill>
                          <a:latin typeface="Calibri" pitchFamily="34" charset="0"/>
                          <a:ea typeface="Calibri" pitchFamily="34" charset="-122"/>
                          <a:cs typeface="Calibri" pitchFamily="34" charset="-120"/>
                        </a:rPr>
                        <a:t>0.716</a:t>
                      </a:r>
                      <a:endParaRPr lang="en-US" sz="13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E8EEF7"/>
                    </a:solidFill>
                  </a:tcPr>
                </a:tc>
              </a:tr>
              <a:tr h="411480">
                <a:tc>
                  <a:txBody>
                    <a:bodyPr/>
                    <a:lstStyle/>
                    <a:p>
                      <a:pPr algn="l" indent="0" marL="0">
                        <a:buNone/>
                      </a:pPr>
                      <a:r>
                        <a:rPr lang="en-US" sz="1300" b="1" dirty="0">
                          <a:solidFill>
                            <a:srgbClr val="222222"/>
                          </a:solidFill>
                          <a:latin typeface="Calibri" pitchFamily="34" charset="0"/>
                          <a:ea typeface="Calibri" pitchFamily="34" charset="-122"/>
                          <a:cs typeface="Calibri" pitchFamily="34" charset="-120"/>
                        </a:rPr>
                        <a:t>Packet end</a:t>
                      </a:r>
                      <a:endParaRPr lang="en-US" sz="13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F7F9FC"/>
                    </a:solidFill>
                  </a:tcPr>
                </a:tc>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-7.90 s</a:t>
                      </a:r>
                      <a:endParaRPr lang="en-US" sz="13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F7F9FC"/>
                    </a:solidFill>
                  </a:tcPr>
                </a:tc>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0 of 20</a:t>
                      </a:r>
                      <a:endParaRPr lang="en-US" sz="13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F7F9FC"/>
                    </a:solidFill>
                  </a:tcPr>
                </a:tc>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0.715</a:t>
                      </a:r>
                      <a:endParaRPr lang="en-US" sz="1300" dirty="0">
                        <a:latin typeface="Calibri" charset="0"/>
                        <a:ea typeface="Calibri" charset="0"/>
                        <a:cs typeface="Calibri" charset="0"/>
                      </a:endParaRPr>
                    </a:p>
                  </a:txBody>
                  <a:tcPr marL="91440" marR="91440" marT="0" marB="0"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F7F9FC"/>
                    </a:solidFill>
                  </a:tcPr>
                </a:tc>
              </a:tr>
            </a:tbl>
          </a:graphicData>
        </a:graphic>
      </p:graphicFrame>
      <p:sp>
        <p:nvSpPr>
          <p:cNvPr id="21" name="Shape 17"/>
          <p:cNvSpPr/>
          <p:nvPr/>
        </p:nvSpPr>
        <p:spPr>
          <a:xfrm>
            <a:off x="457200" y="4983480"/>
            <a:ext cx="5303520" cy="1143000"/>
          </a:xfrm>
          <a:prstGeom prst="roundRect">
            <a:avLst>
              <a:gd name="adj" fmla="val 6400"/>
            </a:avLst>
          </a:prstGeom>
          <a:solidFill>
            <a:srgbClr val="1F3864"/>
          </a:solidFill>
          <a:ln w="12700">
            <a:solidFill>
              <a:srgbClr val="1F3864"/>
            </a:solidFill>
            <a:prstDash val="solid"/>
          </a:ln>
        </p:spPr>
      </p:sp>
      <p:sp>
        <p:nvSpPr>
          <p:cNvPr id="22" name="Text 18"/>
          <p:cNvSpPr txBox="1"/>
          <p:nvPr/>
        </p:nvSpPr>
        <p:spPr>
          <a:xfrm>
            <a:off x="640080" y="4983480"/>
            <a:ext cx="4937760" cy="11430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Result   </a:t>
            </a:r>
            <a:pPr indent="0" marL="0">
              <a:buNone/>
            </a:pPr>
            <a:r>
              <a:rPr lang="en-US" sz="1300" dirty="0">
                <a:solidFill>
                  <a:srgbClr val="FFFFFF"/>
                </a:solidFill>
                <a:latin typeface="Calibri" pitchFamily="34" charset="0"/>
                <a:ea typeface="Calibri" pitchFamily="34" charset="-122"/>
                <a:cs typeface="Calibri" pitchFamily="34" charset="-120"/>
              </a:rPr>
              <a:t>Aligned within 0.2 s on all 20 sessions. The same peak under both readings means the data are displaced, not degraded, so no shift is applied.</a:t>
            </a:r>
            <a:endParaRPr lang="en-US" sz="1300" dirty="0"/>
          </a:p>
        </p:txBody>
      </p:sp>
      <p:sp>
        <p:nvSpPr>
          <p:cNvPr id="23" name="Text 19"/>
          <p:cNvSpPr txBox="1"/>
          <p:nvPr/>
        </p:nvSpPr>
        <p:spPr>
          <a:xfrm>
            <a:off x="457200" y="6263640"/>
            <a:ext cx="11247120" cy="365760"/>
          </a:xfrm>
          <a:prstGeom prst="rect">
            <a:avLst/>
          </a:prstGeom>
          <a:noFill/>
          <a:ln/>
        </p:spPr>
        <p:txBody>
          <a:bodyPr wrap="square" lIns="0" tIns="0" rIns="0" bIns="0" rtlCol="0" anchor="ctr"/>
          <a:lstStyle/>
          <a:p>
            <a:pPr indent="0" marL="0">
              <a:buNone/>
            </a:pPr>
            <a:r>
              <a:rPr lang="en-US" sz="1100" i="1" dirty="0">
                <a:solidFill>
                  <a:srgbClr val="5A6270"/>
                </a:solidFill>
                <a:latin typeface="Calibri" pitchFamily="34" charset="0"/>
                <a:ea typeface="Calibri" pitchFamily="34" charset="-122"/>
                <a:cs typeface="Calibri" pitchFamily="34" charset="-120"/>
              </a:rPr>
              <a:t>The method is tested on synthetic data with offsets of known size and direction, and it recovers them within 1 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2026-09-23T05:22:43Z</dcterms:created>
  <dcterms:modified xsi:type="dcterms:W3CDTF">2026-09-23T05:22:43Z</dcterms:modified>
</cp:coreProperties>
</file>