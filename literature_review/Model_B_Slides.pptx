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box maps to a step in the summary tables that follow. Shapes are (time steps, channels). 49,395 trainable parameters with the chew head, 47,282 used at prediction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 End-to-End Pipeline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481328" cy="676656"/>
          </a:xfrm>
          <a:prstGeom prst="rect">
            <a:avLst/>
          </a:prstGeom>
          <a:solidFill>
            <a:srgbClr val="D9EAD3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02336" y="868680"/>
            <a:ext cx="1408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ETS database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labels 10 Hz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sensor 128 Hz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21408" y="868680"/>
            <a:ext cx="1481328" cy="676656"/>
          </a:xfrm>
          <a:prstGeom prst="rect">
            <a:avLst/>
          </a:prstGeom>
          <a:solidFill>
            <a:srgbClr val="D9EAD3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57984" y="868680"/>
            <a:ext cx="1408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 windows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label: &gt; 50% eating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47088" y="1207008"/>
            <a:ext cx="274320" cy="914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877056" y="868680"/>
            <a:ext cx="1481328" cy="676656"/>
          </a:xfrm>
          <a:prstGeom prst="rect">
            <a:avLst/>
          </a:prstGeom>
          <a:solidFill>
            <a:srgbClr val="D9EAD3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13632" y="868680"/>
            <a:ext cx="1408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filter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&gt;= 50% labelled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&lt;= 50% missing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02736" y="1207008"/>
            <a:ext cx="274320" cy="914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32704" y="868680"/>
            <a:ext cx="1481328" cy="676656"/>
          </a:xfrm>
          <a:prstGeom prst="rect">
            <a:avLst/>
          </a:prstGeom>
          <a:solidFill>
            <a:srgbClr val="D9EAD3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0" y="868680"/>
            <a:ext cx="1408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per window,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per channel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58384" y="1207008"/>
            <a:ext cx="274320" cy="914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88352" y="868680"/>
            <a:ext cx="1481328" cy="676656"/>
          </a:xfrm>
          <a:prstGeom prst="rect">
            <a:avLst/>
          </a:prstGeom>
          <a:solidFill>
            <a:srgbClr val="D9EAD3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24928" y="868680"/>
            <a:ext cx="1408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(1024, 4)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14032" y="1207008"/>
            <a:ext cx="274320" cy="914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65760" y="1920240"/>
            <a:ext cx="1481328" cy="676656"/>
          </a:xfrm>
          <a:prstGeom prst="rect">
            <a:avLst/>
          </a:prstGeom>
          <a:solidFill>
            <a:srgbClr val="CFE2F3"/>
          </a:solidFill>
          <a:ln w="12700">
            <a:solidFill>
              <a:srgbClr val="3D85C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" y="1920240"/>
            <a:ext cx="1408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block 1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32 x k9, stride 2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(256, 32)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21408" y="1920240"/>
            <a:ext cx="1481328" cy="676656"/>
          </a:xfrm>
          <a:prstGeom prst="rect">
            <a:avLst/>
          </a:prstGeom>
          <a:solidFill>
            <a:srgbClr val="CFE2F3"/>
          </a:solidFill>
          <a:ln w="12700">
            <a:solidFill>
              <a:srgbClr val="3D85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57984" y="1920240"/>
            <a:ext cx="1408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block 2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64 x k9, stride 2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(64, 64)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47088" y="2258568"/>
            <a:ext cx="274320" cy="914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877056" y="1920240"/>
            <a:ext cx="1481328" cy="676656"/>
          </a:xfrm>
          <a:prstGeom prst="rect">
            <a:avLst/>
          </a:prstGeom>
          <a:solidFill>
            <a:srgbClr val="CFE2F3"/>
          </a:solidFill>
          <a:ln w="12700">
            <a:solidFill>
              <a:srgbClr val="3D85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13632" y="1920240"/>
            <a:ext cx="1408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block 3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64 x k5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(64, 64)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02736" y="2258568"/>
            <a:ext cx="274320" cy="914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32704" y="1920240"/>
            <a:ext cx="1481328" cy="676656"/>
          </a:xfrm>
          <a:prstGeom prst="rect">
            <a:avLst/>
          </a:prstGeom>
          <a:solidFill>
            <a:srgbClr val="D9D2E9"/>
          </a:solidFill>
          <a:ln w="12700">
            <a:solidFill>
              <a:srgbClr val="351C7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0" y="1920240"/>
            <a:ext cx="1408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attention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squeeze-excite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(64, 64)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58384" y="2258568"/>
            <a:ext cx="274320" cy="914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88352" y="1920240"/>
            <a:ext cx="1481328" cy="676656"/>
          </a:xfrm>
          <a:prstGeom prst="rect">
            <a:avLst/>
          </a:prstGeom>
          <a:solidFill>
            <a:srgbClr val="D9D2E9"/>
          </a:solidFill>
          <a:ln w="12700">
            <a:solidFill>
              <a:srgbClr val="351C7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24928" y="1920240"/>
            <a:ext cx="1408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pooling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softmax over time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 (64)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14032" y="2258568"/>
            <a:ext cx="274320" cy="914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65760" y="2971800"/>
            <a:ext cx="1481328" cy="676656"/>
          </a:xfrm>
          <a:prstGeom prst="rect">
            <a:avLst/>
          </a:prstGeom>
          <a:solidFill>
            <a:srgbClr val="D9D2E9"/>
          </a:solidFill>
          <a:ln w="12700">
            <a:solidFill>
              <a:srgbClr val="351C7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2336" y="2971800"/>
            <a:ext cx="1408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+ dropout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Dense 64, 0.3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121408" y="2971800"/>
            <a:ext cx="1481328" cy="676656"/>
          </a:xfrm>
          <a:prstGeom prst="rect">
            <a:avLst/>
          </a:prstGeom>
          <a:solidFill>
            <a:srgbClr val="FCE5CD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57984" y="2971800"/>
            <a:ext cx="1408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head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sigmoid &gt; p(eating)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847088" y="3310128"/>
            <a:ext cx="274320" cy="914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877056" y="2971800"/>
            <a:ext cx="1481328" cy="676656"/>
          </a:xfrm>
          <a:prstGeom prst="rect">
            <a:avLst/>
          </a:prstGeom>
          <a:solidFill>
            <a:srgbClr val="FCE5CD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913632" y="2971800"/>
            <a:ext cx="1408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set on validation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participants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02736" y="3310128"/>
            <a:ext cx="274320" cy="914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632704" y="2971800"/>
            <a:ext cx="1481328" cy="676656"/>
          </a:xfrm>
          <a:prstGeom prst="rect">
            <a:avLst/>
          </a:prstGeom>
          <a:solidFill>
            <a:srgbClr val="FCE5CD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69280" y="2971800"/>
            <a:ext cx="1408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eating / not eating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58384" y="3310128"/>
            <a:ext cx="274320" cy="914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129016" y="1545336"/>
            <a:ext cx="914" cy="18745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 flipH="1">
            <a:off x="1106424" y="1732788"/>
            <a:ext cx="7022592" cy="914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1106424" y="1732788"/>
            <a:ext cx="914" cy="18745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129016" y="2596896"/>
            <a:ext cx="914" cy="18745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none"/>
          </a:ln>
        </p:spPr>
      </p:sp>
      <p:sp>
        <p:nvSpPr>
          <p:cNvPr id="46" name="Shape 44"/>
          <p:cNvSpPr/>
          <p:nvPr/>
        </p:nvSpPr>
        <p:spPr>
          <a:xfrm flipH="1">
            <a:off x="1106424" y="2784348"/>
            <a:ext cx="7022592" cy="914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1106424" y="2784348"/>
            <a:ext cx="914" cy="187452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365760" y="4005072"/>
            <a:ext cx="1481328" cy="676656"/>
          </a:xfrm>
          <a:prstGeom prst="rect">
            <a:avLst/>
          </a:prstGeom>
          <a:solidFill>
            <a:srgbClr val="F3F3F3"/>
          </a:solidFill>
          <a:ln w="12700">
            <a:solidFill>
              <a:srgbClr val="999999"/>
            </a:solidFill>
            <a:prstDash val="dash"/>
          </a:ln>
        </p:spPr>
      </p:sp>
      <p:sp>
        <p:nvSpPr>
          <p:cNvPr id="49" name="Text 47"/>
          <p:cNvSpPr txBox="1"/>
          <p:nvPr/>
        </p:nvSpPr>
        <p:spPr>
          <a:xfrm>
            <a:off x="402336" y="4005072"/>
            <a:ext cx="1408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Chew head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training only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876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count of chews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106424" y="3648456"/>
            <a:ext cx="914" cy="356616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2121408" y="4005072"/>
            <a:ext cx="4992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= BCE(food) + 0.2 x MSE(chews). The chew head is discarded after training.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 Summary Table (1/3): Data to Input</a:t>
            </a:r>
            <a:endParaRPr lang="en-US" sz="2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600200"/>
                <a:gridCol w="2514600"/>
                <a:gridCol w="39776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 annotations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study_data.numeric_data, CHGT, BOGT, BIGT at 10 Hz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Reads chew, bout and bite labels for each session, one full day per record. A value of -1 means not annotated.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 eating per sample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eating = BOGT &gt; 0 or BIGT &gt; 0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10 Hz sample is eating when it falls in a chewing bout or a bite. Samples missing in both are left as -1.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 the annotated span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first to last non-missing sample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the video-annotated part of the day is used. Unannotated time is never treated as not eating.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 sensor packets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aim_raw_data XYZO, 4 x 1,022 samples per packet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Accelerometer X, Y, Z and optical at 128 Hz. data_timestamp is read as the packet start, as verified by the alignment check.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Place samples on a 128 Hz grid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missing = -1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packet is written at its timestamp. The 2 samples between 1,022-sample packets stay -1, which gives about 99.8% coverage.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 windows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8 s = 1,024 samples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uses a 4 s hop (50% overlap). Evaluation uses only the non-overlapping 8 s grid.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filter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keep if &gt;= 50% labelled and &lt;= 50% sensor missing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Drops windows that are mostly unannotated or mostly without sensor data.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 label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eating if &gt; 50% of labelled samples are eating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binary label per window, the same majority rule as the AIM-2 paper.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Chew target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count of CHGT marks in the window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only by the auxiliary head during training.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Per-window z-score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each channel, each window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samples are excluded, the rest are shifted to mean 0 and scaled to standard deviation 1, and missing samples are then set to 0. No frequency filter is applied.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 Summary Table (2/3): Network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600200"/>
                <a:gridCol w="2514600"/>
                <a:gridCol w="39776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(1024, 4)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s of the four channels.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 block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Conv1D 32 filters, kernel 9, stride 2 &gt; BatchNorm &gt; ReLU &gt; MaxPool 2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 (256, 32). Learns short local patterns and cuts the sequence by 4. 1,312 parameters.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 block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Conv1D 64 filters, kernel 9, stride 2 &gt; BatchNorm &gt; ReLU &gt; MaxPool 2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 (64, 64). Longer patterns. 18,752 parameters.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 block 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Conv1D 64 filters, kernel 5, stride 1 &gt; BatchNorm &gt; ReLU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 (64, 64). Each of the 64 time steps covers 0.125 s, and each feature sees about 0.9 s of signal, roughly one chew cycle. 20,800 parameters.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 attention (squeeze and excitation)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average over time &gt; Dense 16 ReLU &gt; Dense 64 sigmoid &gt; multiply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Scores each of the 64 learned feature channels between 0 and 1 and rescales them. It acts on learned features, not directly on the 4 sensors. 2,128 parameters.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Attention pooling over time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Conv1D 1 x 1 &gt; softmax over 64 steps &gt; weighted sum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Gives each time step a weight and sums the sequence into one 64-value vector, so a short bite is not averaged away. 65 parameters.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dense layer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Dense 64 ReLU &gt; Dropout 0.3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Combines the pooled features. Dropout reduces overfitting. 4,160 parameters.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Food head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Dense 1 sigmoid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Probability that the window is eating. The only output used for prediction. 65 parameters.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Chew head (training only)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Dense 32 ReLU &gt; Dense 1 softplus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Predicts the scaled chew count. Discarded after training. 2,113 parameters.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parameters: 49,395 during training, 47,282 at prediction time.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 Summary Table (3/3): Training and Evaluation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600200"/>
                <a:gridCol w="2514600"/>
                <a:gridCol w="39776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BCE(food) + 0.2 x MSE(chews)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Chew counts are divided by the 99th percentile of the training participants so both losses sit on a similar scale.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balance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weight = total / (2 x class count)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Computed per fold, so neither class can be ignored.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Adam, learning rate 0.001, batch 64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defaults.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Stopping and schedule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max 80 epochs, early stop patience 12, halve LR after 4 flat epochs, min 1e-5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Monitors validation loss and restores the best weights.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Cross-validation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leave one subject out, 20 folds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participant is tested once by a model that never saw them.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Inner validation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2 training participants per fold, rotated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for early stopping and the threshold. Never the test participant.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threshold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grid 0.05 to 0.95, maximise F1, centre of the plateau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Chosen on the inner validation participants, then applied unchanged to the test participant.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8761D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F1, balanced accuracy, precision, recall, specificity</a:t>
                      </a:r>
                      <a:endParaRPr lang="en-US" sz="75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Pooled over all held-out windows and reported per participant.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Design Choice Has a Precedent (1/2)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240280"/>
                <a:gridCol w="3520440"/>
                <a:gridCol w="14173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Precedent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Accelerometer X, Y, Z and optical over the temporalis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four AIM-2.1 channels [2]. Optical sensing on smart glasses reached F1 0.91 [8]. Temporalis activity reflects chewing [9, 1]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Sampling rate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 Hz, the device rate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AIM-2 records at 128 Hz [1, 2]. Accuracy holds down to about 10 to 25 Hz in activity recognition [28]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Established. 32 Hz test planned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 length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s epochs [2]. Others used 10 s [1], 15 s [3] and 5 s [4]. Window size changes results [38]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Established. 4 and 16 s sweep planned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 label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Eating if more than 50% of the window is eating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majority rule [1]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Annotated time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Unannotated time is dropped, never labelled not eating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Labels come only from ground truth [1, 2]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samples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Excluded from the z-score, then set to 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direct precedent found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choice, covered by pipeline tests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Normalisation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Z-score per window and per channel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Normalisation for inter-subject variation [1]. Z-normalised series are standard in time series classification [14, 15]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None. The input is not band-passed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input without filtering [2]. AIM-2 used a 0.1 Hz high-pass and 3 Hz low-pass [1]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Open. Filter test planned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representation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series, not FFT magnitude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time series with CNNs [2, 15, 14, 12]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 ablation. FFT input costs 0.087 F1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Convolution trunk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Three 1D conv blocks with BatchNorm and ReLU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1D CNNs for time series [15, 14]. Deeper conv stacks helped on AIM [2]. BatchNorm [29]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Strided convolution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Stride 2 plus max pooling to shorten the sequence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Strided convolution as downsampling [36]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in brackets refer to the reference slides at the end.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Design Choice Has a Precedent (2/2)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240280"/>
                <a:gridCol w="3520440"/>
                <a:gridCol w="14173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Precedent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 attention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Squeeze and excitation on the 64 learned channels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Introduced in [17]. Used in time series classification [16] and radio signals [6]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Standard. Own ablation within noise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Attention pooling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Softmax weights over 64 time steps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Attention over time in activity recognition [18]. Attention-based pooling [19]. AIM work used global average pooling [2]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on AIM. Within noise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Dropout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 after the shared dense layer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[31]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Chew count head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Auxiliary regression, weight 0.2, training only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Multitask learning [20]. Chew counting from sensors [11]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on AIM. Within noise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weighting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Per-fold inverse class frequency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Imbalanced learning [33]. Cost-sensitive training on AIM [3]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Optimiser and stopping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Adam 0.001, early stopping on validation loss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[30, 34]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Overlapping windows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 overlap for training, non-overlapping for testing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 inflates results only under subject-dependent evaluation, and subject cross-validation is recommended [21]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 ablation. +0.025 F1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Cross-validation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Leave one subject out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in [1, 2, 3, 4]. Subject-wise splits are required for a valid estimate [22]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Established. Lab standard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Chosen on inner validation participants to maximise F1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[23]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and balanced accuracy lead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as the headline metric [4, 2]. Balanced accuracy [37]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Alignment check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Cross-correlation of chewing energy with labels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direct precedent found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 method, validated on synthetic offsets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in brackets refer to the reference slides at the end.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Since the 4/22 Proposal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566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4/22 proposal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B now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(61 sessions available)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s, 1,280 samples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s, 1,024 samples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 Hz high-pass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None, z-score only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 layers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(16 and 32 filters, kernels 5 and 9)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(32, 64, 64 filters, kernels 9, 9, 5), strided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 attention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Reduction ratio 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Squeeze and excitation, reduction 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Dense and dropout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Dense 16, dropout 0.2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Dense 64, dropout 0.3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Food only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Food plus chew count (training only)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Batch, epochs, patience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32, 30, 5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64, 80, 12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windows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Non-overlapping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 overlap, tested non-overlapping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folds plus 2 held-out participants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Leave one subject 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idea is unchanged: 1D convolutions, cross-channel attention, attention pooling and a sigmoid classifier.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Fewer False Positives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737360"/>
                <a:gridCol w="164592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 positives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Non-eating windows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 positive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4-fold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Leave one subject 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874520"/>
          <a:ext cx="8503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173736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Precedent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Precision-targeted threshold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Pick the threshold on validation that keeps the false positive rate under a set target, for example 5%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[23]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retraining. Costs some recall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examples from other datasets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non-eating recordings from other studies into ETS as extra negatives, split by participant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[3] reports false positives from chewing gum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Agreed at the 9/23 meeting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Cost-sensitive loss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 a false positive more than a false negative, or use focal loss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[3, 32]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parameter to sweep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Signal-quality gating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accelerometer-only decisions when the optical signal is weak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Two-stage rule from AIM-2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Augmentation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Noise, time masking and shifts during training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[6]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Largest single gain in that paper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a clearly lower false positive rate at roughly the same accuracy.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Added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  <a:gridCol w="6400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 here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BC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Stankoski et al. 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Optical sensors on smart glasses, ConvLSTM, F1 0.91, real-life precision 0.95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[8]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Zhang and Amft 2018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EMG in eyeglasses over the temporalis, free-living chewing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[9]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Bedri et al. 2020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FitByte eyeglasses, multimodal fusion to cut false positives, F1 0.89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[10]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Kyritsis et al. 2021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End-to-end CNN and LSTM on raw smartwatch data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[12]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Farooq and Sazonov 2016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Automatic chew counting, basis for the chew head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[11]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Karim et al. 2019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Squeeze and excitation in time series classification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[16]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Murahari and Plötz 2018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Attention over time for wearable activity recognition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[18]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Dehghani et al. 2019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Overlapping windows and subject-independent evaluation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[21]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Saeb et al. 2017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splits must be by subject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[22]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Shavit and Klein 2021, Dirgová Luptáková et al. 2022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Transformers on wearable inertial data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[26, 27]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Zerveas et al. 2021, Haresamudram et al. 2020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Self-supervised pretraining for sensor time series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[25, 24]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Yamane et al. 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 sampling rates keep accuracy, supports the 32 Hz test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[28]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(1/2)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77240"/>
            <a:ext cx="8503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A. Doulah, T. Ghosh, D. Hossain, M. H. Imtiaz, E. Sazonov, "Automatic Ingestion Monitor Version 2 - A novel wearable device for automatic food intake detection and passive capture of food images," IEEE Journal of Biomedical and Health Informatics, vol. 25, no. 2, pp. 568-576, 2021. doi 10.1109/JBHI.2020.2995473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T. Ghosh, E. Sazonov, "A comparative study of deep learning algorithms for detecting food intake," Proc. 44th Annual Int. Conf. IEEE EMBC, Glasgow, 2022, pp. 2993-2996. doi 10.1109/EMBC48229.2022.9871278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T. Ghosh, Y. Han, V. Raju, D. Hossain, M. A. McCrory, J. Higgins, C. Boushey, E. J. Delp, E. Sazonov, "Integrated image and sensor-based food intake detection in free-living," Scientific Reports, vol. 14, 1665, 2024. doi 10.1038/s41598-024-51687-3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C. Diou, K. Kyritsis, V. Papapanagiotou, I. Sarafis, "Intake monitoring in free-living conditions. Overview and lessons we have learned," Appetite, 2022. doi 10.1016/j.appet.2022.106096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M. Usman, H. Chen, "Recent trends in food intake monitoring using wearable sensors," arXiv 2101.01378, 2021.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J. Yang, Y. Wang, M. Yang, H. Meng, "Signal classification based on multi-scale time-frequency transformer," Physical Communication, vol. 75, 103022, 2026. doi 10.1016/j.phycom.2026.103022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 S. Ikram et al., "Transformer-based ECG classification for early detection of cardiac arrhythmias," Frontiers in Medicine, vol. 12, 1600855, 2025. doi 10.3389/fmed.2025.1600855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 S. Stankoski, I. Kiprijanovska, M. Gjoreski, F. Panchevski, B. Sazdov, B. Sofronievski, A. Cleal, M. Fatoorechi, C. Nduka, H. Gjoreski, "Controlled and real-life investigation of optical tracking sensors in smart glasses for monitoring eating behavior using deep learning. Cross-sectional study," JMIR mHealth and uHealth, vol. 12, e59469, 2024.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 R. Zhang, O. Amft, "Monitoring chewing and eating in free-living using smart eyeglasses," IEEE Journal of Biomedical and Health Informatics, vol. 22, no. 1, pp. 23-32, 2018. doi 10.1109/JBHI.2017.2698523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 A. Bedri, D. Li, R. Khurana, K. Bhuwalka, M. Goel, "FitByte. Automatic diet monitoring in unconstrained situations using multimodal sensing on eyeglasses," Proc. CHI Conference on Human Factors in Computing Systems, 2020. doi 10.1145/3313831.3376869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[11] M. Farooq, E. Sazonov, "Automatic measurement of chew count and chewing rate during food intake," Electronics, vol. 5, no. 4, 62, 2016. doi 10.3390/electronics5040062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[12] K. Kyritsis, C. Diou, A. Delopoulos, "A data driven end-to-end approach for in-the-wild monitoring of eating behavior using smartwatches," IEEE Journal of Biomedical and Health Informatics, vol. 25, no. 1, pp. 22-34, 2021.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[13] N. Bahador, D. Ferreira, S. Tamminen, J. Kortelainen, "Deep learning-based multimodal data fusion. Case study in food intake episodes detection using wearable sensors," JMIR mHealth and uHealth, vol. 9, no. 1, e21926, 2021.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[14] H. Ismail Fawaz, G. Forestier, J. Weber, L. Idoumghar, P.-A. Muller, "Deep learning for time series classification. A review," Data Mining and Knowledge Discovery, vol. 33, pp. 917-963, 2019. doi 10.1007/s10618-019-00619-1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[15] Z. Wang, W. Yan, T. Oates, "Time series classification from scratch with deep neural networks. A strong baseline," Proc. Int. Joint Conf. Neural Networks (IJCNN), 2017, pp. 1578-1585.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[16] F. Karim, S. Majumdar, H. Darabi, S. Harford, "Multivariate LSTM-FCNs for time series classification," Neural Networks, vol. 116, pp. 237-245, 2019. doi 10.1016/j.neunet.2019.04.014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[17] J. Hu, L. Shen, G. Sun, "Squeeze-and-excitation networks," Proc. IEEE Conf. Computer Vision and Pattern Recognition (CVPR), 2018, pp. 7132-7141.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[18] V. S. Murahari, T. Plötz, "On attention models for human activity recognition," Proc. ACM Int. Symposium on Wearable Computers (ISWC), 2018. doi 10.1145/3267242.3267287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[19] M. Ilse, J. Tomczak, M. Welling, "Attention-based deep multiple instance learning," Proc. Int. Conf. Machine Learning (ICML), 2018.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(2/2)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77240"/>
            <a:ext cx="8503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[20] R. Caruana, "Multitask learning," Machine Learning, vol. 28, pp. 41-75, 1997.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[21] A. Dehghani, O. Sarbishei, T. Glatard, E. Shihab, "A quantitative comparison of overlapping and non-overlapping sliding windows for human activity recognition using inertial sensors," Sensors, vol. 19, no. 22, 5026, 2019. doi 10.3390/s19225026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[22] S. Saeb, L. Lonini, A. Jayaraman, D. C. Mohr, K. P. Kording, "The need to approximate the use-case in clinical machine learning," GigaScience, vol. 6, no. 5, gix019, 2017.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[23] Z. C. Lipton, C. Elkan, B. Narayanaswamy, "Optimal thresholding of classifiers to maximize F1 measure," Proc. ECML PKDD, LNCS vol. 8725, pp. 225-239, 2014.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[24] H. Haresamudram, A. Beedu, V. Agrawal, P. L. Grady, I. Essa, J. Hoffman, T. Plötz, "Masked reconstruction based self-supervision for human activity recognition," Proc. ACM ISWC, 2020. doi 10.1145/3410531.3414306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[25] G. Zerveas, S. Jayaraman, D. Patel, A. Bhamidipaty, C. Eickhoff, "A transformer-based framework for multivariate time series representation learning," Proc. ACM SIGKDD Conf. Knowledge Discovery and Data Mining, 2021. doi 10.1145/3447548.3467401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[26] Y. Shavit, I. Klein, "Boosting inertial-based human activity recognition with transformers," IEEE Access, vol. 9, pp. 53540-53547, 2021. doi 10.1109/ACCESS.2021.3070646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[27] I. Dirgová Luptáková, M. Kubovčík, J. Pospíchal, "Wearable sensor-based human activity recognition with transformer model," Sensors, vol. 22, no. 5, 1911, 2022. doi 10.3390/s22051911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[28] T. Yamane, M. Kimura, M. Morita, "Effects of sampling frequency on human activity recognition with machine learning aiming at clinical applications," Sensors, vol. 25, no. 12, 3780, 2025.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[29] S. Ioffe, C. Szegedy, "Batch normalization. Accelerating deep network training by reducing internal covariate shift," Proc. ICML, 2015.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[30] D. P. Kingma, J. Ba, "Adam. A method for stochastic optimization," Proc. Int. Conf. Learning Representations (ICLR), 2015.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[31] N. Srivastava, G. Hinton, A. Krizhevsky, I. Sutskever, R. Salakhutdinov, "Dropout. A simple way to prevent neural networks from overfitting," Journal of Machine Learning Research, vol. 15, pp. 1929-1958, 2014.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[32] T.-Y. Lin, P. Goyal, R. Girshick, K. He, P. Dollár, "Focal loss for dense object detection," Proc. IEEE Int. Conf. Computer Vision (ICCV), 2017, pp. 2980-2988.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[33] H. He, E. A. Garcia, "Learning from imbalanced data," IEEE Transactions on Knowledge and Data Engineering, vol. 21, no. 9, pp. 1263-1284, 2009.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[34] L. Prechelt, "Early stopping, but when?," in Neural Networks. Tricks of the Trade, LNCS vol. 1524, Springer, 1998, pp. 55-69.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[35] F. J. Ordóñez, D. Roggen, "Deep convolutional and LSTM recurrent neural networks for multimodal wearable activity recognition," Sensors, vol. 16, no. 1, 115, 2016.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[36] J. T. Springenberg, A. Dosovitskiy, T. Brox, M. Riedmiller, "Striving for simplicity. The all convolutional net," ICLR Workshop, 2015.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[37] K. H. Brodersen, C. S. Ong, K. E. Stephan, J. M. Buhmann, "The balanced accuracy and its posterior distribution," Proc. Int. Conf. Pattern Recognition (ICPR), 2010, pp. 3121-3124.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[38] O. Banos, J.-M. Galvez, M. Damas, H. Pomares, I. Rojas, "Window size impact in human activity recognition," Sensors, vol. 14, no. 4, pp. 6474-6499, 2014.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2026-09-24T00:55:12Z</dcterms:created>
  <dcterms:modified xsi:type="dcterms:W3CDTF">2026-09-24T00:55:12Z</dcterms:modified>
</cp:coreProperties>
</file>