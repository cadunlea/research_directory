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pdate" id="{faeb4cf1-03fb-80bc-40c0-1a4f89276db1}">
          <p14:sldIdLst>
            <p14:sldId id="256"/>
            <p14:sldId id="257"/>
            <p14:sldId id="258"/>
          </p14:sldIdLst>
        </p14:section>
        <p14:section name="Chewing" id="{c3b60e06-a6f1-7e88-d39e-1461879f1893}">
          <p14:sldIdLst>
            <p14:sldId id="259"/>
            <p14:sldId id="260"/>
          </p14:sldIdLst>
        </p14:section>
        <p14:section name="Analysis" id="{e3917f3a-f8f4-b34f-c738-b37a9ec05b75}">
          <p14:sldIdLst>
            <p14:sldId id="261"/>
            <p14:sldId id="262"/>
          </p14:sldIdLst>
        </p14:section>
        <p14:section name="Backup" id="{c5d6874b-3929-99df-238b-746296079bf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6 closes today. The final model is the validated setup trained once on all annotated participants, with 5 held out for early stopping and the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1.7 h recording, 7 eating episodes, 9.3 min of eating detected; 153 windows skipped for missing sensor data. Annotations were read straight from the database. Shaded: annotated eating. Dashed: threshold 0.75.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0.854 is on the 5 participants held out of the final model's training. They did choose the threshold, so it is slightly optimistic, but it matches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chew head was an auxiliary training target, never tuned on its own. Filled dots are the 8 held-out meals; open dots are the 53 meals of participants the model trained on (counts r = 0.97, median error 10%; rate r = 0.42), which are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spectra over all 8 s windows. The accelerometers barely differ in the chewing band, which is why the optical channel matters most for chewing.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panel: 9 participants with a lunch and another meal; 7 of 9 lower at lunch, median difference -0.081, Wilcoxon p = 0.10 (too few people to be significant). The two that improved had their weakest session at the other meal. Snack shows 22 sessions: AIM125068's snack has no annotated eating, so no F1. Pooled: breakfast 0.882, dinner 0.884, lunch 0.829, snack 0.877.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cover the whole recording; circles cover only the annotated stretch. Long recordings (AIM134628 snack, 12.5 h) show more detected than annotated eating; some of that is false alarms over many hours, some may be unannotated 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Project Updates</a:t>
            </a:r>
            <a:endParaRPr lang="en-US" sz="2800" dirty="0"/>
          </a:p>
        </p:txBody>
      </p:sp>
      <p:pic>
        <p:nvPicPr>
          <p:cNvPr id="3" name="Image 0" descr="Randall Research Scholars Program project contract, activities 1 to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4754880" cy="36623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40680" y="1051560"/>
            <a:ext cx="33375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Model development is complete (Activity 6, due today)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Trained the final model: 38 participants for training, 5 held out to pick the stopping point and threshold (0.75)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Inference now runs on the whole database in one command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Activity 7 (due 11/04): only writing results back to the database is left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Inference Demo: AIM146271 Lunch</a:t>
            </a:r>
            <a:endParaRPr lang="en-US" sz="2800" dirty="0"/>
          </a:p>
        </p:txBody>
      </p:sp>
      <p:pic>
        <p:nvPicPr>
          <p:cNvPr id="3" name="Image 0" descr="AIM146271 lunch: annotated eating and the final model's probability over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8321040" cy="20290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0.886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F1, against my annotation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14884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0.925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14884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Precision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8620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0.849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Recall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Held out from training (only used to pick the threshold)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Misses are short bouts and pauses (around 13:58); one false spike after the meal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Whole-Database Inference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Held-out participant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Meal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AIM109345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Lunch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0.792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AIM109345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Snack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0.864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AIM116725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Lunch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0.823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AIM116725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Snack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0.865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AIM128555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Breakfast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0.844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AIM128555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Snack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0.915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AIM146271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Lunch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0.886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AIM147560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Breakfast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0.667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0.854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Scored: only the 8 sessions the model never trained on (the other 53 would be inflated)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51560"/>
            <a:ext cx="38404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One command ran the model on all 61 recordings in the database (about 1 s each)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Saves every eating episode (start, end, duration, chews) and one row per meal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Can be stopped and restarted; finished recordings are skipped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Participants the final model never saw: median F1 0.854, close to the leave-one-out 0.862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Chews per Meal</a:t>
            </a:r>
            <a:endParaRPr lang="en-US" sz="2800" dirty="0"/>
          </a:p>
        </p:txBody>
      </p:sp>
      <p:pic>
        <p:nvPicPr>
          <p:cNvPr id="3" name="Image 0" descr="Model versus annotated chews per meal and chewing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5669280" cy="26050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55080" y="960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 = 0.92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3550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Chews per meal, held-out meals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148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 = −0.23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Chewing rate, held-out meals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65760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Chew counts match my annotations: median error 14%, slight undercount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Chewing rate does not: the model gives about 70–100 chews/min to everyone, real rates are 75–130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So the count is right mostly because eating time is right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Idea: Chewing Rate from the Optical Signal</a:t>
            </a:r>
            <a:endParaRPr lang="en-US" sz="2800" dirty="0"/>
          </a:p>
        </p:txBody>
      </p:sp>
      <p:pic>
        <p:nvPicPr>
          <p:cNvPr id="3" name="Image 0" descr="Optical sensor spectrum, eating versus not ea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4846320" cy="33924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434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Solid: eating   Dashed: not eating   Shaded: chewing band (0.94–2.17 Hz)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532120" y="1051560"/>
            <a:ext cx="32461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During eating the optical (jaw) signal peaks at about 1.7 Hz, inside the chewing band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1.7 Hz is about 100 chews/min, right in the annotated range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Idea: read chewing rate from the peak frequency in each eating window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Can be checked against the chew annotations I already have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Performance by Meal Type</a:t>
            </a:r>
            <a:endParaRPr lang="en-US" sz="2800" dirty="0"/>
          </a:p>
        </p:txBody>
      </p:sp>
      <p:pic>
        <p:nvPicPr>
          <p:cNvPr id="3" name="Image 0" descr="F1 per session by meal type, and lunch versus the same participant's other m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68680"/>
            <a:ext cx="7680960" cy="3072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069080"/>
            <a:ext cx="7680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Lunches score lower: median F1 0.815 vs 0.890 for other meals (p = 0.009); the drop is mostly missed eating (recall 0.82)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Some lunches were solo, so this is not yet a group-eating result; asked Siavash where session setting is recorded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Done card"/>
          <p:cNvSpPr/>
          <p:nvPr/>
        </p:nvSpPr>
        <p:spPr>
          <a:xfrm>
            <a:off x="411480" y="1051560"/>
            <a:ext cx="265176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Final model trained and validated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Whole-database inference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Chews per meal + check</a:t>
            </a:r>
            <a:endParaRPr lang="en-US" sz="1600" dirty="0"/>
          </a:p>
        </p:txBody>
      </p:sp>
      <p:sp>
        <p:nvSpPr>
          <p:cNvPr id="6" name="Waiting on card"/>
          <p:cNvSpPr/>
          <p:nvPr/>
        </p:nvSpPr>
        <p:spPr>
          <a:xfrm>
            <a:off x="3246120" y="1051560"/>
            <a:ext cx="265176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Waiting 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Which table and format to write results 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Where group vs solo is recorded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Is food type recorded?</a:t>
            </a:r>
            <a:endParaRPr lang="en-US" sz="1600" dirty="0"/>
          </a:p>
        </p:txBody>
      </p:sp>
      <p:sp>
        <p:nvSpPr>
          <p:cNvPr id="9" name="Next card"/>
          <p:cNvSpPr/>
          <p:nvPr/>
        </p:nvSpPr>
        <p:spPr>
          <a:xfrm>
            <a:off x="6080760" y="1051560"/>
            <a:ext cx="265176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Chewing rate from the optical peak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Annotate the 4 worst participants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Paper for SoutheastCon, Methods first (12/02)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Backup: All 61 Meals</a:t>
            </a:r>
            <a:endParaRPr lang="en-US" sz="2800" dirty="0"/>
          </a:p>
        </p:txBody>
      </p:sp>
      <p:pic>
        <p:nvPicPr>
          <p:cNvPr id="3" name="Image 0" descr="Eating time, chews and chewing rate per meal for all 61 me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68680"/>
            <a:ext cx="7680960" cy="39849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28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Backup: Time Domain vs FFT Input</a:t>
            </a:r>
            <a:endParaRPr lang="en-US" sz="2800" dirty="0"/>
          </a:p>
        </p:txBody>
      </p:sp>
      <p:pic>
        <p:nvPicPr>
          <p:cNvPr id="3" name="Image 0" descr="Recall versus false alarms per hour, time domain versus F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5212080" cy="33678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97880" y="1051560"/>
            <a:ext cx="28803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Same model, two inputs: raw signal (time domain) vs frequency spectrum (FFT)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Time domain finds more eating at every false-alarm rate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At the chosen threshold: about 41 vs 84 false alarms per hour at similar recall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Grayscale">
  <a:themeElements>
    <a:clrScheme name="Lab Grayscale">
      <a:dk1>
        <a:srgbClr val="000000"/>
      </a:dk1>
      <a:lt1>
        <a:srgbClr val="FFFFFF"/>
      </a:lt1>
      <a:dk2>
        <a:srgbClr val="595959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BFBFBF"/>
      </a:accent4>
      <a:accent5>
        <a:srgbClr val="262626"/>
      </a:accent5>
      <a:accent6>
        <a:srgbClr val="D9D9D9"/>
      </a:accent6>
      <a:hlink>
        <a:srgbClr val="404040"/>
      </a:hlink>
      <a:folHlink>
        <a:srgbClr val="7F7F7F"/>
      </a:folHlink>
    </a:clrScheme>
    <a:fontScheme name="Lab Graysca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2026-10-28T06:03:49Z</dcterms:created>
  <dcterms:modified xsi:type="dcterms:W3CDTF">2026-10-28T06:03:49Z</dcterms:modified>
</cp:coreProperties>
</file>