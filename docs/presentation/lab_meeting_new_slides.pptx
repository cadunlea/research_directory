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Time series (model)</c:v>
                </c:pt>
              </c:strCache>
            </c:strRef>
          </c:tx>
          <c:spPr>
            <a:solidFill>
              <a:srgbClr val="404040"/>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Sheet1!$B$2:$B$5</c:f>
              <c:numCache>
                <c:formatCode>General</c:formatCode>
                <c:ptCount val="4"/>
                <c:pt idx="0">
                  <c:v>0.858</c:v>
                </c:pt>
                <c:pt idx="1">
                  <c:v>0.891</c:v>
                </c:pt>
                <c:pt idx="2">
                  <c:v>0.884</c:v>
                </c:pt>
                <c:pt idx="3">
                  <c:v>0.834</c:v>
                </c:pt>
              </c:numCache>
            </c:numRef>
          </c:val>
        </c:ser>
        <c:ser>
          <c:idx val="1"/>
          <c:order val="1"/>
          <c:tx>
            <c:strRef>
              <c:f>Sheet1!$C$1</c:f>
              <c:strCache>
                <c:ptCount val="1"/>
                <c:pt idx="0">
                  <c:v>FFT spectrum</c:v>
                </c:pt>
              </c:strCache>
            </c:strRef>
          </c:tx>
          <c:spPr>
            <a:solidFill>
              <a:srgbClr val="A6A6A6"/>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Sheet1!$C$2:$C$5</c:f>
              <c:numCache>
                <c:formatCode>General</c:formatCode>
                <c:ptCount val="4"/>
                <c:pt idx="0">
                  <c:v>0.796</c:v>
                </c:pt>
                <c:pt idx="1">
                  <c:v>0.829</c:v>
                </c:pt>
                <c:pt idx="2">
                  <c:v>0.754</c:v>
                </c:pt>
                <c:pt idx="3">
                  <c:v>0.843</c:v>
                </c:pt>
              </c:numCache>
            </c:numRef>
          </c:val>
        </c:ser>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Arial"/>
              </a:defRPr>
            </a:pPr>
            <a:r>
              <a:rPr sz="1100" b="0" i="0" u="none" strike="noStrike">
                <a:solidFill>
                  <a:srgbClr val="222222"/>
                </a:solidFill>
                <a:latin typeface="Arial"/>
              </a:rPr>
              <a:t>F1 by fold</a:t>
            </a:r>
          </a:p>
        </c:rich>
      </c:tx>
      <c:layout/>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A6A6A6"/>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Sheet1!$B$2:$B$6</c:f>
              <c:numCache>
                <c:formatCode>General</c:formatCode>
                <c:ptCount val="5"/>
                <c:pt idx="0">
                  <c:v>0.896</c:v>
                </c:pt>
                <c:pt idx="1">
                  <c:v>0.904</c:v>
                </c:pt>
                <c:pt idx="2">
                  <c:v>0.842</c:v>
                </c:pt>
                <c:pt idx="3">
                  <c:v>0.851</c:v>
                </c:pt>
                <c:pt idx="4">
                  <c:v>0.772</c:v>
                </c:pt>
              </c:numCache>
            </c:numRef>
          </c:val>
        </c:ser>
        <c:ser>
          <c:idx val="1"/>
          <c:order val="1"/>
          <c:tx>
            <c:strRef>
              <c:f>Sheet1!$C$1</c:f>
              <c:strCache>
                <c:ptCount val="1"/>
                <c:pt idx="0">
                  <c:v>Learning rate 0.0003</c:v>
                </c:pt>
              </c:strCache>
            </c:strRef>
          </c:tx>
          <c:spPr>
            <a:solidFill>
              <a:srgbClr val="404040"/>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Sheet1!$C$2:$C$6</c:f>
              <c:numCache>
                <c:formatCode>General</c:formatCode>
                <c:ptCount val="5"/>
                <c:pt idx="0">
                  <c:v>0.898</c:v>
                </c:pt>
                <c:pt idx="1">
                  <c:v>0.898</c:v>
                </c:pt>
                <c:pt idx="2">
                  <c:v>0.829</c:v>
                </c:pt>
                <c:pt idx="3">
                  <c:v>0.855</c:v>
                </c:pt>
                <c:pt idx="4">
                  <c:v>0.817</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direct quote, with its page. Wang, Yan &amp; Oates 2017 is the standard reference for classifying time series with convolutional networks straight from the raw signal: their FCN is three conv + batch-norm + ReLU blocks, and z-normalisation is their only preprocessing, which is exactly our trunk and our normalisation. They compare against COTE, an ensemble built on features from both the time and frequency domains, and match or beat it from raw data. Diou et al. 2022 is the Thessaloniki group's review of their intake-monitoring work: the end-to-end model on raw smartwatch data beat every hand-engineered method, everything is evaluated leave-one-subject-out, and they report that walking at 1-3 Hz looks like chewing and causes false positives. That is the argument for keeping the accelerometer next to the optical sensor, and for choosing the threshold for the use case.
Important: neither paper compares time series against an FFT on the same model. That comparison is our own result (next slides): F1 0.858 vs 0.796, false alarms 81 -&gt; 32 per hour.
Still to quote from the primary papers (need the PDFs): squeeze-and-excitation (Hu et al. 2018), attention pooling (Ilse et al. 2018), the auxiliary chew head (Caruana 1997), and subject-wise versus record-wise validation (Saeb et al.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raw signal in, normalised per window, three convolution blocks, then the two attention mechanisms (shaded). The dashed box is the chew-count head: it forces the network to learn the chewing rhythm during training and is thrown away afterwards. The whole model is 47k parameters, deliberately small for the amount of annotated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now has all 61 sessions annotated, from 43 people. That's why the logs say 43 participants: 18 people came in twice. Splits are always by person, never by window, so the model is never tested on someone it trained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Everything else held fixed, only the input representation changes. The spectrum tells the model which rhythms are in the window but not when they happen, so it fires on any rhythmic head movement: 81 false alarms per hour of non-eating versus 32. Recall is about the same; the whole gain is precision. We saw the same thing on the first 20 sessions, and it holds on all 61, winning in every fold. 5-fold participant cross-validation, 10,891 test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Diagnosing the training: the logs showed early stopping keeping the very first epoch. That wasn't an artefact of what it monitored (switching to AUC changed nothing), so the model really does generalise best after one pass, then starts fitting the training people. A lower learning rate helped most, especially on the hardest fold, and F1 is now 0.864. But these gains are small and I'll only claim them after a paired test across participants.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False positives are the failure that matters in free living, so the threshold should be set for them. The model outputs a probability; where we draw the line decides the trade-off. Best F1 treats a false alarm and a miss as equally bad. The other two options favour precision: F0.5, or a hard budget of false alarms per hour. The curve shows, for any budget, how much eating we still catch. Next step: train with the budget chosen on validation participants, so the reported number is not tuned on the test set. Negative examples from other ETS studies are the other lever, and they attack false positives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folds are fixed on purpose, so runs are directly comparable. The weakest fold is mostly long lunches where eating is a small part of the session, and the model misses eating there. Three people are at the bottom in every run; I'll check their sensor data next, which also feeds the data-quality assessment. The main message: differences between people are bigger than differences between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from last week is either done, implemented and queued, or waiting on data. The sampling-rate, window and chew-weight experiments are one flag each now, so they can all run this week. The negative-examples idea is the one I need to plan with Siavash, since those recordings need to go into the same database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How the Literature Shaped the Model</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148840"/>
                <a:gridCol w="4343400"/>
                <a:gridCol w="173736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Model component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Published statement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Source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Raw time-series input, no FFT or hand-crafted features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“Our proposed baseline models are pure end-to-end without any heavy preprocessing on the raw data or feature crafting.”</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Wang et al. 2017, p. 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Raw input for eating detection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“processes the raw inertial data (not using hand-engineered features)”; this end-to-end approach “outperforms all other methods”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Diou et al. 2022, pp. 4–5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Per-window z-score normalisation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“The only preprocessing in our experiment is z-normalization”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Wang et al. 2017, p. 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Conv + batch norm + ReLU blocks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“The basic block is a convolutional layer followed by a batch normalization layer [...] and a ReLU activation layer.”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Wang et al. 2017, p. 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Accelerometer alongside optical, weighted by channel attention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“walking rhythm is similar to chewing (i.e. 1 to 3 Hz) [...] causing the classification models to yield high false-positive detections”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Diou et al. 2022, p. 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Leave-one-subject-out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“Evaluation is performed in a leave-one-subject-out (LOSO) fashion”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Diou et al. 2022, p. 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Threshold chosen for the use case (false alarms)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“allows the user to tune the detection system towards higher recall or precision, or a balanced mode, based on the needs of each use-case”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Diou et al. 2022, p. 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Model Architecture</a:t>
            </a:r>
            <a:endParaRPr lang="en-US" sz="2800" dirty="0"/>
          </a:p>
        </p:txBody>
      </p:sp>
      <p:pic>
        <p:nvPicPr>
          <p:cNvPr id="3" name="Image 0" descr="/home/user/Research_Directory/docs/literature_review/figure_architecture.png">    </p:cNvPr>
          <p:cNvPicPr>
            <a:picLocks noChangeAspect="1"/>
          </p:cNvPicPr>
          <p:nvPr/>
        </p:nvPicPr>
        <p:blipFill>
          <a:blip r:embed="rId1"/>
          <a:stretch>
            <a:fillRect/>
          </a:stretch>
        </p:blipFill>
        <p:spPr>
          <a:xfrm>
            <a:off x="457200" y="868680"/>
            <a:ext cx="3838388" cy="4160520"/>
          </a:xfrm>
          <a:prstGeom prst="rect">
            <a:avLst/>
          </a:prstGeom>
        </p:spPr>
      </p:pic>
      <p:sp>
        <p:nvSpPr>
          <p:cNvPr id="4" name="Text 1"/>
          <p:cNvSpPr txBox="1"/>
          <p:nvPr/>
        </p:nvSpPr>
        <p:spPr>
          <a:xfrm>
            <a:off x="4572000" y="1005840"/>
            <a:ext cx="4114800" cy="38404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Reads 8 s of raw signal: 3 accelerometer axes and the optical sensor at 128 Hz</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convolution blocks learn their own filters; each output step covers about one chew cycle</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Two attention steps: which sensor matters, and which moment matters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Chew-count head used only in training</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47,282 parameters: small enough to train on CPU in about a minute per fold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Dataset: All 61 Sessions Now Annotated</a:t>
            </a:r>
            <a:endParaRPr lang="en-US" sz="2800" dirty="0"/>
          </a:p>
        </p:txBody>
      </p:sp>
      <p:sp>
        <p:nvSpPr>
          <p:cNvPr id="3" name="Shape 1"/>
          <p:cNvSpPr/>
          <p:nvPr/>
        </p:nvSpPr>
        <p:spPr>
          <a:xfrm>
            <a:off x="457200" y="1005840"/>
            <a:ext cx="1874520" cy="1325880"/>
          </a:xfrm>
          <a:prstGeom prst="rect">
            <a:avLst/>
          </a:prstGeom>
          <a:solidFill>
            <a:srgbClr val="F5F5F5"/>
          </a:solidFill>
          <a:ln w="12700">
            <a:solidFill>
              <a:srgbClr val="F5F5F5"/>
            </a:solidFill>
            <a:prstDash val="solid"/>
          </a:ln>
        </p:spPr>
      </p:sp>
      <p:sp>
        <p:nvSpPr>
          <p:cNvPr id="4" name="Text 2"/>
          <p:cNvSpPr txBox="1"/>
          <p:nvPr/>
        </p:nvSpPr>
        <p:spPr>
          <a:xfrm>
            <a:off x="45720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61</a:t>
            </a:r>
            <a:endParaRPr lang="en-US" sz="3600" dirty="0"/>
          </a:p>
        </p:txBody>
      </p:sp>
      <p:sp>
        <p:nvSpPr>
          <p:cNvPr id="5" name="Text 3"/>
          <p:cNvSpPr txBox="1"/>
          <p:nvPr/>
        </p:nvSpPr>
        <p:spPr>
          <a:xfrm>
            <a:off x="45720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sessions</a:t>
            </a:r>
            <a:endParaRPr lang="en-US" sz="1300" dirty="0"/>
          </a:p>
        </p:txBody>
      </p:sp>
      <p:sp>
        <p:nvSpPr>
          <p:cNvPr id="6" name="Shape 4"/>
          <p:cNvSpPr/>
          <p:nvPr/>
        </p:nvSpPr>
        <p:spPr>
          <a:xfrm>
            <a:off x="2560320" y="1005840"/>
            <a:ext cx="1874520" cy="1325880"/>
          </a:xfrm>
          <a:prstGeom prst="rect">
            <a:avLst/>
          </a:prstGeom>
          <a:solidFill>
            <a:srgbClr val="F5F5F5"/>
          </a:solidFill>
          <a:ln w="12700">
            <a:solidFill>
              <a:srgbClr val="F5F5F5"/>
            </a:solidFill>
            <a:prstDash val="solid"/>
          </a:ln>
        </p:spPr>
      </p:sp>
      <p:sp>
        <p:nvSpPr>
          <p:cNvPr id="7" name="Text 5"/>
          <p:cNvSpPr txBox="1"/>
          <p:nvPr/>
        </p:nvSpPr>
        <p:spPr>
          <a:xfrm>
            <a:off x="256032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43</a:t>
            </a:r>
            <a:endParaRPr lang="en-US" sz="3600" dirty="0"/>
          </a:p>
        </p:txBody>
      </p:sp>
      <p:sp>
        <p:nvSpPr>
          <p:cNvPr id="8" name="Text 6"/>
          <p:cNvSpPr txBox="1"/>
          <p:nvPr/>
        </p:nvSpPr>
        <p:spPr>
          <a:xfrm>
            <a:off x="256032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participants</a:t>
            </a:r>
            <a:endParaRPr lang="en-US" sz="1300" dirty="0"/>
          </a:p>
        </p:txBody>
      </p:sp>
      <p:sp>
        <p:nvSpPr>
          <p:cNvPr id="9" name="Shape 7"/>
          <p:cNvSpPr/>
          <p:nvPr/>
        </p:nvSpPr>
        <p:spPr>
          <a:xfrm>
            <a:off x="4663440" y="1005840"/>
            <a:ext cx="1874520" cy="1325880"/>
          </a:xfrm>
          <a:prstGeom prst="rect">
            <a:avLst/>
          </a:prstGeom>
          <a:solidFill>
            <a:srgbClr val="F5F5F5"/>
          </a:solidFill>
          <a:ln w="12700">
            <a:solidFill>
              <a:srgbClr val="F5F5F5"/>
            </a:solidFill>
            <a:prstDash val="solid"/>
          </a:ln>
        </p:spPr>
      </p:sp>
      <p:sp>
        <p:nvSpPr>
          <p:cNvPr id="10" name="Text 8"/>
          <p:cNvSpPr txBox="1"/>
          <p:nvPr/>
        </p:nvSpPr>
        <p:spPr>
          <a:xfrm>
            <a:off x="466344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24.2 h</a:t>
            </a:r>
            <a:endParaRPr lang="en-US" sz="3600" dirty="0"/>
          </a:p>
        </p:txBody>
      </p:sp>
      <p:sp>
        <p:nvSpPr>
          <p:cNvPr id="11" name="Text 9"/>
          <p:cNvSpPr txBox="1"/>
          <p:nvPr/>
        </p:nvSpPr>
        <p:spPr>
          <a:xfrm>
            <a:off x="466344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recording</a:t>
            </a:r>
            <a:endParaRPr lang="en-US" sz="1300" dirty="0"/>
          </a:p>
        </p:txBody>
      </p:sp>
      <p:sp>
        <p:nvSpPr>
          <p:cNvPr id="12" name="Shape 10"/>
          <p:cNvSpPr/>
          <p:nvPr/>
        </p:nvSpPr>
        <p:spPr>
          <a:xfrm>
            <a:off x="6766560" y="1005840"/>
            <a:ext cx="1874520" cy="1325880"/>
          </a:xfrm>
          <a:prstGeom prst="rect">
            <a:avLst/>
          </a:prstGeom>
          <a:solidFill>
            <a:srgbClr val="F5F5F5"/>
          </a:solidFill>
          <a:ln w="12700">
            <a:solidFill>
              <a:srgbClr val="F5F5F5"/>
            </a:solidFill>
            <a:prstDash val="solid"/>
          </a:ln>
        </p:spPr>
      </p:sp>
      <p:sp>
        <p:nvSpPr>
          <p:cNvPr id="13" name="Text 11"/>
          <p:cNvSpPr txBox="1"/>
          <p:nvPr/>
        </p:nvSpPr>
        <p:spPr>
          <a:xfrm>
            <a:off x="676656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9.6 h</a:t>
            </a:r>
            <a:endParaRPr lang="en-US" sz="3600" dirty="0"/>
          </a:p>
        </p:txBody>
      </p:sp>
      <p:sp>
        <p:nvSpPr>
          <p:cNvPr id="14" name="Text 12"/>
          <p:cNvSpPr txBox="1"/>
          <p:nvPr/>
        </p:nvSpPr>
        <p:spPr>
          <a:xfrm>
            <a:off x="676656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of eating</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651760"/>
          <a:ext cx="2926080" cy="914400"/>
        </p:xfrm>
        <a:graphic>
          <a:graphicData uri="http://schemas.openxmlformats.org/drawingml/2006/table">
            <a:tbl>
              <a:tblPr/>
              <a:tblGrid>
                <a:gridCol w="1737360"/>
                <a:gridCol w="118872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Meal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Sessions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Breakfast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Lunch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Dinner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Snack</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6" name="Text 13"/>
          <p:cNvSpPr txBox="1"/>
          <p:nvPr/>
        </p:nvSpPr>
        <p:spPr>
          <a:xfrm>
            <a:off x="3749040" y="2651760"/>
            <a:ext cx="4937760" cy="210312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Up from 20 sessions (7.8 h): three times the data</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18 participants have two sessions; each test fold holds out a whole person, both sessions together</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Sessions run 2 to 55 minutes; eating share runs 0% to 86%</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Key Finding: Time Series Beats the Spectrum</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97280"/>
            <a:ext cx="301752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81 → 32</a:t>
            </a:r>
            <a:endParaRPr lang="en-US" sz="4000" dirty="0"/>
          </a:p>
        </p:txBody>
      </p:sp>
      <p:sp>
        <p:nvSpPr>
          <p:cNvPr id="5" name="Text 2"/>
          <p:cNvSpPr txBox="1"/>
          <p:nvPr/>
        </p:nvSpPr>
        <p:spPr>
          <a:xfrm>
            <a:off x="5669280" y="1828800"/>
            <a:ext cx="3017520" cy="548640"/>
          </a:xfrm>
          <a:prstGeom prst="rect">
            <a:avLst/>
          </a:prstGeom>
          <a:noFill/>
          <a:ln/>
        </p:spPr>
        <p:txBody>
          <a:bodyPr wrap="square" lIns="0" tIns="0" rIns="0" bIns="0" rtlCol="0" anchor="ctr"/>
          <a:lstStyle/>
          <a:p>
            <a:pPr indent="0" marL="0">
              <a:buNone/>
            </a:pPr>
            <a:r>
              <a:rPr lang="en-US" sz="1300" dirty="0">
                <a:solidFill>
                  <a:srgbClr val="666666"/>
                </a:solidFill>
                <a:latin typeface="Arial" pitchFamily="34" charset="0"/>
                <a:ea typeface="Arial" pitchFamily="34" charset="-122"/>
                <a:cs typeface="Arial" pitchFamily="34" charset="-120"/>
              </a:rPr>
              <a:t>false alarms per hour of non-eating, spectrum → time series</a:t>
            </a:r>
            <a:endParaRPr lang="en-US" sz="1300" dirty="0"/>
          </a:p>
        </p:txBody>
      </p:sp>
      <p:sp>
        <p:nvSpPr>
          <p:cNvPr id="6" name="Text 3"/>
          <p:cNvSpPr txBox="1"/>
          <p:nvPr/>
        </p:nvSpPr>
        <p:spPr>
          <a:xfrm>
            <a:off x="5669280" y="2606040"/>
            <a:ext cx="3017520" cy="20116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model, only the input changed</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Time series wins in all 5 folds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Replicates the 20-session result on three times the data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Training Experiments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743200"/>
                <a:gridCol w="822960"/>
                <a:gridCol w="1005840"/>
                <a:gridCol w="914400"/>
                <a:gridCol w="1463040"/>
                <a:gridCol w="128016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Recall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False alarms / 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Worst fold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Default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Early stopping on AUC</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0.817</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augmentation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Augmentation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0.886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0.789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743200"/>
            <a:ext cx="8229600" cy="17373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Early stopping kept the epoch-1 model in 3 of 5 folds: on new people the model peaks almost immediately</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 lower learning rate moved the best epoch to 2-6 and lifted the weakest fold from 0.772 to 0.817</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All differences are within about 0.006 F1; to be confirmed with paired per-participant tests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Reducing False Positives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4023360" cy="914400"/>
        </p:xfrm>
        <a:graphic>
          <a:graphicData uri="http://schemas.openxmlformats.org/drawingml/2006/table">
            <a:tbl>
              <a:tblPr/>
              <a:tblGrid>
                <a:gridCol w="1371600"/>
                <a:gridCol w="265176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Operating point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How the threshold is chosen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Now: best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Balances false alarms and misses equally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F0.5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Counts a false alarm twice as costly as a miss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False-alarm budget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Catches as much eating as possible within N false alarms per hour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4023360" cy="21945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Current model: 32 false alarms per hour of non-eating, precision 0.88</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Threshold always chosen on validation participants, never the test person</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No retraining needed to see the trade-off: the curve comes from saved predictions</a:t>
            </a:r>
            <a:endParaRPr lang="en-US" sz="1400" dirty="0"/>
          </a:p>
        </p:txBody>
      </p:sp>
      <p:sp>
        <p:nvSpPr>
          <p:cNvPr id="5" name="Shape 2"/>
          <p:cNvSpPr/>
          <p:nvPr/>
        </p:nvSpPr>
        <p:spPr>
          <a:xfrm>
            <a:off x="4754880" y="960120"/>
            <a:ext cx="3931920" cy="3749040"/>
          </a:xfrm>
          <a:prstGeom prst="rect">
            <a:avLst/>
          </a:prstGeom>
          <a:solidFill>
            <a:srgbClr val="FFFFFF"/>
          </a:solidFill>
          <a:ln w="9525">
            <a:solidFill>
              <a:srgbClr val="BFBFBF"/>
            </a:solidFill>
            <a:prstDash val="dash"/>
          </a:ln>
        </p:spPr>
      </p:sp>
      <p:sp>
        <p:nvSpPr>
          <p:cNvPr id="6" name="Text 3"/>
          <p:cNvSpPr txBox="1"/>
          <p:nvPr/>
        </p:nvSpPr>
        <p:spPr>
          <a:xfrm>
            <a:off x="4754880" y="2651760"/>
            <a:ext cx="3931920" cy="365760"/>
          </a:xfrm>
          <a:prstGeom prst="rect">
            <a:avLst/>
          </a:prstGeom>
          <a:noFill/>
          <a:ln/>
        </p:spPr>
        <p:txBody>
          <a:bodyPr wrap="square" lIns="0" tIns="0" rIns="0" bIns="0" rtlCol="0" anchor="ctr"/>
          <a:lstStyle/>
          <a:p>
            <a:pPr algn="ctr" indent="0" marL="0">
              <a:buNone/>
            </a:pPr>
            <a:r>
              <a:rPr lang="en-US" sz="1100" dirty="0">
                <a:solidFill>
                  <a:srgbClr val="666666"/>
                </a:solidFill>
                <a:latin typeface="Arial" pitchFamily="34" charset="0"/>
                <a:ea typeface="Arial" pitchFamily="34" charset="-122"/>
                <a:cs typeface="Arial" pitchFamily="34" charset="-120"/>
              </a:rPr>
              <a:t>Paste figures\operating_curve.png here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Where the Errors Are</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05840"/>
            <a:ext cx="3017520" cy="374904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folds every run, so the same people are always the hardest</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Fold 5 is long lunches with little eating (20-31% of the session): recall drops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participants are lowest in every run: AIM132097, AIM122571, AIM147560</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Spread between people is larger than any design change so far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Action Items from Last Meeting</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3657600"/>
                <a:gridCol w="457200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Action item (9/23)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Connect the model to the literature review</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every component mapped to a paper; review written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Explain the model, graphical representation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architecture figure and full design table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Leave-one-subject-out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Built in as the default; 43-fold run in progress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Different sampling rates (e.g. 32 Hz)</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(128 / 64 / 32 / 16 Hz);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Detection window 4 s / 16 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(2-16 s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Weight of chew count vs detection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(0 to 1.0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Look into transformers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as an option; to run on the full dataset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Add negative examples from other ETS studies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Needs the data uploaded; to plan together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Food-intake detection: lab meeting update</dc:title>
  <dc:subject>PptxGenJS Presentation</dc:subject>
  <dc:creator>PptxGenJS</dc:creator>
  <cp:lastModifiedBy>PptxGenJS</cp:lastModifiedBy>
  <cp:revision>1</cp:revision>
  <dcterms:created xsi:type="dcterms:W3CDTF">2026-09-30T06:13:20Z</dcterms:created>
  <dcterms:modified xsi:type="dcterms:W3CDTF">2026-09-30T06:13:20Z</dcterms:modified>
</cp:coreProperties>
</file>