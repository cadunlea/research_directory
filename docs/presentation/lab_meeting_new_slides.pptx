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Time series (model)</c:v>
                </c:pt>
              </c:strCache>
            </c:strRef>
          </c:tx>
          <c:spPr>
            <a:solidFill>
              <a:srgbClr val="404040"/>
            </a:solidFill>
            <a:effectLst/>
          </c:spPr>
          <c:invertIfNegative val="0"/>
          <c:dLbls>
            <c:numFmt formatCode="0.0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F1</c:v>
                  </c:pt>
                  <c:pt idx="1">
                    <c:v>Accuracy</c:v>
                  </c:pt>
                  <c:pt idx="2">
                    <c:v>Precision</c:v>
                  </c:pt>
                  <c:pt idx="3">
                    <c:v>Recall</c:v>
                  </c:pt>
                </c:lvl>
              </c:multiLvlStrCache>
            </c:multiLvlStrRef>
          </c:cat>
          <c:val>
            <c:numRef>
              <c:f>Sheet1!$B$2:$B$5</c:f>
              <c:numCache>
                <c:formatCode>General</c:formatCode>
                <c:ptCount val="4"/>
                <c:pt idx="0">
                  <c:v>0.858</c:v>
                </c:pt>
                <c:pt idx="1">
                  <c:v>0.891</c:v>
                </c:pt>
                <c:pt idx="2">
                  <c:v>0.884</c:v>
                </c:pt>
                <c:pt idx="3">
                  <c:v>0.834</c:v>
                </c:pt>
              </c:numCache>
            </c:numRef>
          </c:val>
        </c:ser>
        <c:ser>
          <c:idx val="1"/>
          <c:order val="1"/>
          <c:tx>
            <c:strRef>
              <c:f>Sheet1!$C$1</c:f>
              <c:strCache>
                <c:ptCount val="1"/>
                <c:pt idx="0">
                  <c:v>FFT spectrum</c:v>
                </c:pt>
              </c:strCache>
            </c:strRef>
          </c:tx>
          <c:spPr>
            <a:solidFill>
              <a:srgbClr val="A6A6A6"/>
            </a:solidFill>
            <a:effectLst/>
          </c:spPr>
          <c:invertIfNegative val="0"/>
          <c:dLbls>
            <c:numFmt formatCode="0.0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F1</c:v>
                  </c:pt>
                  <c:pt idx="1">
                    <c:v>Accuracy</c:v>
                  </c:pt>
                  <c:pt idx="2">
                    <c:v>Precision</c:v>
                  </c:pt>
                  <c:pt idx="3">
                    <c:v>Recall</c:v>
                  </c:pt>
                </c:lvl>
              </c:multiLvlStrCache>
            </c:multiLvlStrRef>
          </c:cat>
          <c:val>
            <c:numRef>
              <c:f>Sheet1!$C$2:$C$5</c:f>
              <c:numCache>
                <c:formatCode>General</c:formatCode>
                <c:ptCount val="4"/>
                <c:pt idx="0">
                  <c:v>0.796</c:v>
                </c:pt>
                <c:pt idx="1">
                  <c:v>0.829</c:v>
                </c:pt>
                <c:pt idx="2">
                  <c:v>0.754</c:v>
                </c:pt>
                <c:pt idx="3">
                  <c:v>0.843</c:v>
                </c:pt>
              </c:numCache>
            </c:numRef>
          </c:val>
        </c:ser>
        <c:dLbls>
          <c:numFmt formatCode="0.0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max val="1"/>
          <c:min val="0.6"/>
        </c:scaling>
        <c:delete val="0"/>
        <c:axPos val="l"/>
        <c:majorGridlines>
          <c:spPr>
            <a:ln w="6350" cap="flat">
              <a:solidFill>
                <a:srgbClr val="E0E0E0"/>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66666"/>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latin typeface="Arial"/>
              <a:cs typeface="Aria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22222"/>
                </a:solidFill>
                <a:latin typeface="Arial"/>
              </a:defRPr>
            </a:pPr>
            <a:r>
              <a:rPr sz="1100" b="0" i="0" u="none" strike="noStrike">
                <a:solidFill>
                  <a:srgbClr val="222222"/>
                </a:solidFill>
                <a:latin typeface="Arial"/>
              </a:rPr>
              <a:t>F1 by fold</a:t>
            </a:r>
          </a:p>
        </c:rich>
      </c:tx>
      <c:layout/>
      <c:overlay val="0"/>
    </c:title>
    <c:autoTitleDeleted val="0"/>
    <c:plotArea>
      <c:layout/>
      <c:barChart>
        <c:barDir val="col"/>
        <c:grouping val="clustered"/>
        <c:varyColors val="0"/>
        <c:ser>
          <c:idx val="0"/>
          <c:order val="0"/>
          <c:tx>
            <c:strRef>
              <c:f>Sheet1!$B$1</c:f>
              <c:strCache>
                <c:ptCount val="1"/>
                <c:pt idx="0">
                  <c:v>Default</c:v>
                </c:pt>
              </c:strCache>
            </c:strRef>
          </c:tx>
          <c:spPr>
            <a:solidFill>
              <a:srgbClr val="A6A6A6"/>
            </a:solidFill>
            <a:effectLst/>
          </c:spPr>
          <c:invertIfNegative val="0"/>
          <c:dLbls>
            <c:numFmt formatCode="0.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Fold 1</c:v>
                  </c:pt>
                  <c:pt idx="1">
                    <c:v>Fold 2</c:v>
                  </c:pt>
                  <c:pt idx="2">
                    <c:v>Fold 3</c:v>
                  </c:pt>
                  <c:pt idx="3">
                    <c:v>Fold 4</c:v>
                  </c:pt>
                  <c:pt idx="4">
                    <c:v>Fold 5</c:v>
                  </c:pt>
                </c:lvl>
              </c:multiLvlStrCache>
            </c:multiLvlStrRef>
          </c:cat>
          <c:val>
            <c:numRef>
              <c:f>Sheet1!$B$2:$B$6</c:f>
              <c:numCache>
                <c:formatCode>General</c:formatCode>
                <c:ptCount val="5"/>
                <c:pt idx="0">
                  <c:v>0.896</c:v>
                </c:pt>
                <c:pt idx="1">
                  <c:v>0.904</c:v>
                </c:pt>
                <c:pt idx="2">
                  <c:v>0.842</c:v>
                </c:pt>
                <c:pt idx="3">
                  <c:v>0.851</c:v>
                </c:pt>
                <c:pt idx="4">
                  <c:v>0.772</c:v>
                </c:pt>
              </c:numCache>
            </c:numRef>
          </c:val>
        </c:ser>
        <c:ser>
          <c:idx val="1"/>
          <c:order val="1"/>
          <c:tx>
            <c:strRef>
              <c:f>Sheet1!$C$1</c:f>
              <c:strCache>
                <c:ptCount val="1"/>
                <c:pt idx="0">
                  <c:v>Learning rate 0.0003</c:v>
                </c:pt>
              </c:strCache>
            </c:strRef>
          </c:tx>
          <c:spPr>
            <a:solidFill>
              <a:srgbClr val="404040"/>
            </a:solidFill>
            <a:effectLst/>
          </c:spPr>
          <c:invertIfNegative val="0"/>
          <c:dLbls>
            <c:numFmt formatCode="0.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Fold 1</c:v>
                  </c:pt>
                  <c:pt idx="1">
                    <c:v>Fold 2</c:v>
                  </c:pt>
                  <c:pt idx="2">
                    <c:v>Fold 3</c:v>
                  </c:pt>
                  <c:pt idx="3">
                    <c:v>Fold 4</c:v>
                  </c:pt>
                  <c:pt idx="4">
                    <c:v>Fold 5</c:v>
                  </c:pt>
                </c:lvl>
              </c:multiLvlStrCache>
            </c:multiLvlStrRef>
          </c:cat>
          <c:val>
            <c:numRef>
              <c:f>Sheet1!$C$2:$C$6</c:f>
              <c:numCache>
                <c:formatCode>General</c:formatCode>
                <c:ptCount val="5"/>
                <c:pt idx="0">
                  <c:v>0.898</c:v>
                </c:pt>
                <c:pt idx="1">
                  <c:v>0.898</c:v>
                </c:pt>
                <c:pt idx="2">
                  <c:v>0.829</c:v>
                </c:pt>
                <c:pt idx="3">
                  <c:v>0.855</c:v>
                </c:pt>
                <c:pt idx="4">
                  <c:v>0.817</c:v>
                </c:pt>
              </c:numCache>
            </c:numRef>
          </c:val>
        </c:ser>
        <c:dLbls>
          <c:numFmt formatCode="0.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max val="1"/>
          <c:min val="0.6"/>
        </c:scaling>
        <c:delete val="0"/>
        <c:axPos val="l"/>
        <c:majorGridlines>
          <c:spPr>
            <a:ln w="6350" cap="flat">
              <a:solidFill>
                <a:srgbClr val="E0E0E0"/>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66666"/>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here comes from the papers on the previous two slides. Ghosh &amp; Sazonov ran deep networks directly on AIM-2 signals, the same sensor we use, and Kyritsis showed end-to-end learning beating hand-engineered features. Diou's review is the reason both sensors stay in: walking at 1-3 Hz looks like chewing and causes false positives. On Transformers the evidence is mixed: Wang 2024 made attention work on 61 people, Vedovelli's Transformer had poor specificity, and the 97% ECG result was not split by patient. So I use light attention by default and test a Transformer as an option. Two pieces are ours, and I say so: the chew-count head, and the time-series-versus-FFT comparison, which is our own experimental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to bottom: raw signal in, normalised per window, three convolution blocks, then the two attention mechanisms (shaded). The dashed box is the chew-count head: it forces the network to learn the chewing rhythm during training and is thrown away afterwards. The whole model is 47k parameters, deliberately small for the amount of annotated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database now has all 61 sessions annotated, from 43 people. That's why the logs say 43 participants: 18 people came in twice. Splits are always by person, never by window, so the model is never tested on someone it trained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headline. Everything else held fixed, only the input representation changes. The spectrum tells the model which rhythms are in the window but not when they happen, so it fires on any rhythmic head movement: 81 false alarms per hour of non-eating versus 32. Recall is about the same; the whole gain is precision. We saw the same thing on the first 20 sessions, and it holds on all 61, winning in every fold. 5-fold participant cross-validation, 10,891 test windows.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Diagnosing the training: the logs showed early stopping keeping the very first epoch. That wasn't an artefact of what it monitored (switching to AUC changed nothing), so the model really does generalise best after one pass, then starts fitting the training people. A lower learning rate helped most, especially on the hardest fold, and F1 is now 0.864. But these gains are small and I'll only claim them after a paired test across participants.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False positives are the failure that matters in free living, so the threshold should be set for them. The model outputs a probability; where we draw the line decides the trade-off. Best F1 treats a false alarm and a miss as equally bad. The other two options favour precision: F0.5, or a hard budget of false alarms per hour. The curve shows, for any budget, how much eating we still catch. Next step: train with the budget chosen on validation participants, so the reported number is not tuned on the test set. Negative examples from other ETS studies are the other lever, and they attack false positives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folds are fixed on purpose, so runs are directly comparable. The weakest fold is mostly long lunches where eating is a small part of the session, and the model misses eating there. Three people are at the bottom in every run; I'll check their sensor data next, which also feeds the data-quality assessment. The main message: differences between people are bigger than differences between model choices.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from last week is either done, implemented and queued, or waiting on data. The sampling-rate, window and chew-weight experiments are one flag each now, so they can all run this week. The negative-examples idea is the one I need to plan with Siavash, since those recordings need to go into the same database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dirty="0">
                <a:solidFill>
                  <a:srgbClr val="222222"/>
                </a:solidFill>
                <a:latin typeface="Arial" pitchFamily="34" charset="0"/>
                <a:ea typeface="Arial" pitchFamily="34" charset="-122"/>
                <a:cs typeface="Arial" pitchFamily="34" charset="-120"/>
              </a:rPr>
              <a:t>How the Literature Shaped the Model</a:t>
            </a:r>
            <a:endParaRPr lang="en-US" sz="28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457200" y="914400"/>
          <a:ext cx="8229600" cy="914400"/>
        </p:xfrm>
        <a:graphic>
          <a:graphicData uri="http://schemas.openxmlformats.org/drawingml/2006/table">
            <a:tbl>
              <a:tblPr/>
              <a:tblGrid>
                <a:gridCol w="2377440"/>
                <a:gridCol w="3840480"/>
                <a:gridCol w="2011680"/>
              </a:tblGrid>
              <a:tr h="0">
                <a:tc>
                  <a:txBody>
                    <a:bodyPr/>
                    <a:lstStyle/>
                    <a:p>
                      <a:pPr algn="l" indent="0" marL="0">
                        <a:buNone/>
                      </a:pPr>
                      <a:r>
                        <a:rPr lang="en-US" sz="1100" b="1" dirty="0">
                          <a:solidFill>
                            <a:srgbClr val="222222"/>
                          </a:solidFill>
                          <a:latin typeface="Arial" pitchFamily="34" charset="0"/>
                          <a:ea typeface="Arial" pitchFamily="34" charset="-122"/>
                          <a:cs typeface="Arial" pitchFamily="34" charset="-120"/>
                        </a:rPr>
                        <a:t>Model component</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c>
                  <a:txBody>
                    <a:bodyPr/>
                    <a:lstStyle/>
                    <a:p>
                      <a:pPr algn="l" indent="0" marL="0">
                        <a:buNone/>
                      </a:pPr>
                      <a:r>
                        <a:rPr lang="en-US" sz="1100" b="1" dirty="0">
                          <a:solidFill>
                            <a:srgbClr val="222222"/>
                          </a:solidFill>
                          <a:latin typeface="Arial" pitchFamily="34" charset="0"/>
                          <a:ea typeface="Arial" pitchFamily="34" charset="-122"/>
                          <a:cs typeface="Arial" pitchFamily="34" charset="-120"/>
                        </a:rPr>
                        <a:t>What the reviewed papers found</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c>
                  <a:txBody>
                    <a:bodyPr/>
                    <a:lstStyle/>
                    <a:p>
                      <a:pPr algn="l" indent="0" marL="0">
                        <a:buNone/>
                      </a:pPr>
                      <a:r>
                        <a:rPr lang="en-US" sz="1100" b="1" dirty="0">
                          <a:solidFill>
                            <a:srgbClr val="222222"/>
                          </a:solidFill>
                          <a:latin typeface="Arial" pitchFamily="34" charset="0"/>
                          <a:ea typeface="Arial" pitchFamily="34" charset="-122"/>
                          <a:cs typeface="Arial" pitchFamily="34" charset="-120"/>
                        </a:rPr>
                        <a:t>Papers</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Learned features from the normalised time series, not hand-crafted features</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Deep nets on AIM-2 optical + accelerometer signals reached 93.5% balanced accuracy; end-to-end learning on raw IMU beat hand-engineered methods (bite F1 0.923)</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Ghosh &amp; Sazonov 2022; Kyritsis et al. 2021; Doulah et al. 2021</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Optical and accelerometer together, weighted per window (channel attention)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Walking at 1–3 Hz looks like chewing and causes false positives; motion signals are needed to reject it</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Diou et al. 2022; Doulah et al. 2021</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Light attention on a CNN, Transformer tested as an option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CNN + self-attention works on 61 people; a Transformer had specificity of only 0.50; Transformer ECG results used beat-level splits</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Wang et al. 2024; Vedovelli et al. 2026; Ikram et al. 2025</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Participant-level (leave-one-out) validation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AIM-2, smartwatch bite and Transformer eating studies all test on held-out people; the 97% ECG result did not split by patient</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Doulah et al. 2021; Kyritsis et al. 2021; Vedovelli et al. 2026; Ikram et al. 2025</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Operating point and negatives aimed at false positives</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Hard negative examples and sensor-image fusion both reduced false positives</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Stankoski et al. 2021; Ghosh et al. 2024</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Chew-count head; time series vs FFT</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Our additions: few labels motivate extra supervision; the FFT comparison is our own result (F1 0.858 vs 0.796)</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This work (motivated by Diou et al. 2022)</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dirty="0">
                <a:solidFill>
                  <a:srgbClr val="222222"/>
                </a:solidFill>
                <a:latin typeface="Arial" pitchFamily="34" charset="0"/>
                <a:ea typeface="Arial" pitchFamily="34" charset="-122"/>
                <a:cs typeface="Arial" pitchFamily="34" charset="-120"/>
              </a:rPr>
              <a:t>Model Architecture</a:t>
            </a:r>
            <a:endParaRPr lang="en-US" sz="2800" dirty="0"/>
          </a:p>
        </p:txBody>
      </p:sp>
      <p:pic>
        <p:nvPicPr>
          <p:cNvPr id="3" name="Image 0" descr="/home/user/Research_Directory/docs/literature_review/figure_architecture.png">    </p:cNvPr>
          <p:cNvPicPr>
            <a:picLocks noChangeAspect="1"/>
          </p:cNvPicPr>
          <p:nvPr/>
        </p:nvPicPr>
        <p:blipFill>
          <a:blip r:embed="rId1"/>
          <a:stretch>
            <a:fillRect/>
          </a:stretch>
        </p:blipFill>
        <p:spPr>
          <a:xfrm>
            <a:off x="457200" y="868680"/>
            <a:ext cx="3838388" cy="4160520"/>
          </a:xfrm>
          <a:prstGeom prst="rect">
            <a:avLst/>
          </a:prstGeom>
        </p:spPr>
      </p:pic>
      <p:sp>
        <p:nvSpPr>
          <p:cNvPr id="4" name="Text 1"/>
          <p:cNvSpPr txBox="1"/>
          <p:nvPr/>
        </p:nvSpPr>
        <p:spPr>
          <a:xfrm>
            <a:off x="4572000" y="1005840"/>
            <a:ext cx="4114800" cy="3840480"/>
          </a:xfrm>
          <a:prstGeom prst="rect">
            <a:avLst/>
          </a:prstGeom>
          <a:noFill/>
          <a:ln/>
        </p:spPr>
        <p:txBody>
          <a:bodyPr wrap="square" rtlCol="0" anchor="t"/>
          <a:lstStyle/>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Reads 8 s of raw signal: 3 accelerometer axes and the optical sensor at 128 Hz</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Three convolution blocks learn their own filters; each output step covers about one chew cycle</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Two attention steps: which sensor matters, and which moment matters</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Chew-count head used only in training</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47,282 parameters: small enough to train on CPU in about a minute per fold</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dirty="0">
                <a:solidFill>
                  <a:srgbClr val="222222"/>
                </a:solidFill>
                <a:latin typeface="Arial" pitchFamily="34" charset="0"/>
                <a:ea typeface="Arial" pitchFamily="34" charset="-122"/>
                <a:cs typeface="Arial" pitchFamily="34" charset="-120"/>
              </a:rPr>
              <a:t>Dataset: All 61 Sessions Now Annotated</a:t>
            </a:r>
            <a:endParaRPr lang="en-US" sz="2800" dirty="0"/>
          </a:p>
        </p:txBody>
      </p:sp>
      <p:sp>
        <p:nvSpPr>
          <p:cNvPr id="3" name="Shape 1"/>
          <p:cNvSpPr/>
          <p:nvPr/>
        </p:nvSpPr>
        <p:spPr>
          <a:xfrm>
            <a:off x="457200" y="1005840"/>
            <a:ext cx="1874520" cy="1325880"/>
          </a:xfrm>
          <a:prstGeom prst="rect">
            <a:avLst/>
          </a:prstGeom>
          <a:solidFill>
            <a:srgbClr val="F5F5F5"/>
          </a:solidFill>
          <a:ln w="12700">
            <a:solidFill>
              <a:srgbClr val="F5F5F5"/>
            </a:solidFill>
            <a:prstDash val="solid"/>
          </a:ln>
        </p:spPr>
      </p:sp>
      <p:sp>
        <p:nvSpPr>
          <p:cNvPr id="4" name="Text 2"/>
          <p:cNvSpPr txBox="1"/>
          <p:nvPr/>
        </p:nvSpPr>
        <p:spPr>
          <a:xfrm>
            <a:off x="457200" y="1097280"/>
            <a:ext cx="1874520" cy="731520"/>
          </a:xfrm>
          <a:prstGeom prst="rect">
            <a:avLst/>
          </a:prstGeom>
          <a:noFill/>
          <a:ln/>
        </p:spPr>
        <p:txBody>
          <a:bodyPr wrap="square" lIns="0" tIns="0" rIns="0" bIns="0" rtlCol="0" anchor="ctr"/>
          <a:lstStyle/>
          <a:p>
            <a:pPr algn="ctr" indent="0" marL="0">
              <a:buNone/>
            </a:pPr>
            <a:r>
              <a:rPr lang="en-US" sz="3600" b="1" dirty="0">
                <a:solidFill>
                  <a:srgbClr val="222222"/>
                </a:solidFill>
                <a:latin typeface="Arial" pitchFamily="34" charset="0"/>
                <a:ea typeface="Arial" pitchFamily="34" charset="-122"/>
                <a:cs typeface="Arial" pitchFamily="34" charset="-120"/>
              </a:rPr>
              <a:t>61</a:t>
            </a:r>
            <a:endParaRPr lang="en-US" sz="3600" dirty="0"/>
          </a:p>
        </p:txBody>
      </p:sp>
      <p:sp>
        <p:nvSpPr>
          <p:cNvPr id="5" name="Text 3"/>
          <p:cNvSpPr txBox="1"/>
          <p:nvPr/>
        </p:nvSpPr>
        <p:spPr>
          <a:xfrm>
            <a:off x="457200" y="1783080"/>
            <a:ext cx="1874520" cy="411480"/>
          </a:xfrm>
          <a:prstGeom prst="rect">
            <a:avLst/>
          </a:prstGeom>
          <a:noFill/>
          <a:ln/>
        </p:spPr>
        <p:txBody>
          <a:bodyPr wrap="square" lIns="0" tIns="0" rIns="0" bIns="0" rtlCol="0" anchor="ctr"/>
          <a:lstStyle/>
          <a:p>
            <a:pPr algn="ctr" indent="0" marL="0">
              <a:buNone/>
            </a:pPr>
            <a:r>
              <a:rPr lang="en-US" sz="1300" dirty="0">
                <a:solidFill>
                  <a:srgbClr val="666666"/>
                </a:solidFill>
                <a:latin typeface="Arial" pitchFamily="34" charset="0"/>
                <a:ea typeface="Arial" pitchFamily="34" charset="-122"/>
                <a:cs typeface="Arial" pitchFamily="34" charset="-120"/>
              </a:rPr>
              <a:t>annotated sessions</a:t>
            </a:r>
            <a:endParaRPr lang="en-US" sz="1300" dirty="0"/>
          </a:p>
        </p:txBody>
      </p:sp>
      <p:sp>
        <p:nvSpPr>
          <p:cNvPr id="6" name="Shape 4"/>
          <p:cNvSpPr/>
          <p:nvPr/>
        </p:nvSpPr>
        <p:spPr>
          <a:xfrm>
            <a:off x="2560320" y="1005840"/>
            <a:ext cx="1874520" cy="1325880"/>
          </a:xfrm>
          <a:prstGeom prst="rect">
            <a:avLst/>
          </a:prstGeom>
          <a:solidFill>
            <a:srgbClr val="F5F5F5"/>
          </a:solidFill>
          <a:ln w="12700">
            <a:solidFill>
              <a:srgbClr val="F5F5F5"/>
            </a:solidFill>
            <a:prstDash val="solid"/>
          </a:ln>
        </p:spPr>
      </p:sp>
      <p:sp>
        <p:nvSpPr>
          <p:cNvPr id="7" name="Text 5"/>
          <p:cNvSpPr txBox="1"/>
          <p:nvPr/>
        </p:nvSpPr>
        <p:spPr>
          <a:xfrm>
            <a:off x="2560320" y="1097280"/>
            <a:ext cx="1874520" cy="731520"/>
          </a:xfrm>
          <a:prstGeom prst="rect">
            <a:avLst/>
          </a:prstGeom>
          <a:noFill/>
          <a:ln/>
        </p:spPr>
        <p:txBody>
          <a:bodyPr wrap="square" lIns="0" tIns="0" rIns="0" bIns="0" rtlCol="0" anchor="ctr"/>
          <a:lstStyle/>
          <a:p>
            <a:pPr algn="ctr" indent="0" marL="0">
              <a:buNone/>
            </a:pPr>
            <a:r>
              <a:rPr lang="en-US" sz="3600" b="1" dirty="0">
                <a:solidFill>
                  <a:srgbClr val="222222"/>
                </a:solidFill>
                <a:latin typeface="Arial" pitchFamily="34" charset="0"/>
                <a:ea typeface="Arial" pitchFamily="34" charset="-122"/>
                <a:cs typeface="Arial" pitchFamily="34" charset="-120"/>
              </a:rPr>
              <a:t>43</a:t>
            </a:r>
            <a:endParaRPr lang="en-US" sz="3600" dirty="0"/>
          </a:p>
        </p:txBody>
      </p:sp>
      <p:sp>
        <p:nvSpPr>
          <p:cNvPr id="8" name="Text 6"/>
          <p:cNvSpPr txBox="1"/>
          <p:nvPr/>
        </p:nvSpPr>
        <p:spPr>
          <a:xfrm>
            <a:off x="2560320" y="1783080"/>
            <a:ext cx="1874520" cy="411480"/>
          </a:xfrm>
          <a:prstGeom prst="rect">
            <a:avLst/>
          </a:prstGeom>
          <a:noFill/>
          <a:ln/>
        </p:spPr>
        <p:txBody>
          <a:bodyPr wrap="square" lIns="0" tIns="0" rIns="0" bIns="0" rtlCol="0" anchor="ctr"/>
          <a:lstStyle/>
          <a:p>
            <a:pPr algn="ctr" indent="0" marL="0">
              <a:buNone/>
            </a:pPr>
            <a:r>
              <a:rPr lang="en-US" sz="1300" dirty="0">
                <a:solidFill>
                  <a:srgbClr val="666666"/>
                </a:solidFill>
                <a:latin typeface="Arial" pitchFamily="34" charset="0"/>
                <a:ea typeface="Arial" pitchFamily="34" charset="-122"/>
                <a:cs typeface="Arial" pitchFamily="34" charset="-120"/>
              </a:rPr>
              <a:t>participants</a:t>
            </a:r>
            <a:endParaRPr lang="en-US" sz="1300" dirty="0"/>
          </a:p>
        </p:txBody>
      </p:sp>
      <p:sp>
        <p:nvSpPr>
          <p:cNvPr id="9" name="Shape 7"/>
          <p:cNvSpPr/>
          <p:nvPr/>
        </p:nvSpPr>
        <p:spPr>
          <a:xfrm>
            <a:off x="4663440" y="1005840"/>
            <a:ext cx="1874520" cy="1325880"/>
          </a:xfrm>
          <a:prstGeom prst="rect">
            <a:avLst/>
          </a:prstGeom>
          <a:solidFill>
            <a:srgbClr val="F5F5F5"/>
          </a:solidFill>
          <a:ln w="12700">
            <a:solidFill>
              <a:srgbClr val="F5F5F5"/>
            </a:solidFill>
            <a:prstDash val="solid"/>
          </a:ln>
        </p:spPr>
      </p:sp>
      <p:sp>
        <p:nvSpPr>
          <p:cNvPr id="10" name="Text 8"/>
          <p:cNvSpPr txBox="1"/>
          <p:nvPr/>
        </p:nvSpPr>
        <p:spPr>
          <a:xfrm>
            <a:off x="4663440" y="1097280"/>
            <a:ext cx="1874520" cy="731520"/>
          </a:xfrm>
          <a:prstGeom prst="rect">
            <a:avLst/>
          </a:prstGeom>
          <a:noFill/>
          <a:ln/>
        </p:spPr>
        <p:txBody>
          <a:bodyPr wrap="square" lIns="0" tIns="0" rIns="0" bIns="0" rtlCol="0" anchor="ctr"/>
          <a:lstStyle/>
          <a:p>
            <a:pPr algn="ctr" indent="0" marL="0">
              <a:buNone/>
            </a:pPr>
            <a:r>
              <a:rPr lang="en-US" sz="3600" b="1" dirty="0">
                <a:solidFill>
                  <a:srgbClr val="222222"/>
                </a:solidFill>
                <a:latin typeface="Arial" pitchFamily="34" charset="0"/>
                <a:ea typeface="Arial" pitchFamily="34" charset="-122"/>
                <a:cs typeface="Arial" pitchFamily="34" charset="-120"/>
              </a:rPr>
              <a:t>24.2 h</a:t>
            </a:r>
            <a:endParaRPr lang="en-US" sz="3600" dirty="0"/>
          </a:p>
        </p:txBody>
      </p:sp>
      <p:sp>
        <p:nvSpPr>
          <p:cNvPr id="11" name="Text 9"/>
          <p:cNvSpPr txBox="1"/>
          <p:nvPr/>
        </p:nvSpPr>
        <p:spPr>
          <a:xfrm>
            <a:off x="4663440" y="1783080"/>
            <a:ext cx="1874520" cy="411480"/>
          </a:xfrm>
          <a:prstGeom prst="rect">
            <a:avLst/>
          </a:prstGeom>
          <a:noFill/>
          <a:ln/>
        </p:spPr>
        <p:txBody>
          <a:bodyPr wrap="square" lIns="0" tIns="0" rIns="0" bIns="0" rtlCol="0" anchor="ctr"/>
          <a:lstStyle/>
          <a:p>
            <a:pPr algn="ctr" indent="0" marL="0">
              <a:buNone/>
            </a:pPr>
            <a:r>
              <a:rPr lang="en-US" sz="1300" dirty="0">
                <a:solidFill>
                  <a:srgbClr val="666666"/>
                </a:solidFill>
                <a:latin typeface="Arial" pitchFamily="34" charset="0"/>
                <a:ea typeface="Arial" pitchFamily="34" charset="-122"/>
                <a:cs typeface="Arial" pitchFamily="34" charset="-120"/>
              </a:rPr>
              <a:t>annotated recording</a:t>
            </a:r>
            <a:endParaRPr lang="en-US" sz="1300" dirty="0"/>
          </a:p>
        </p:txBody>
      </p:sp>
      <p:sp>
        <p:nvSpPr>
          <p:cNvPr id="12" name="Shape 10"/>
          <p:cNvSpPr/>
          <p:nvPr/>
        </p:nvSpPr>
        <p:spPr>
          <a:xfrm>
            <a:off x="6766560" y="1005840"/>
            <a:ext cx="1874520" cy="1325880"/>
          </a:xfrm>
          <a:prstGeom prst="rect">
            <a:avLst/>
          </a:prstGeom>
          <a:solidFill>
            <a:srgbClr val="F5F5F5"/>
          </a:solidFill>
          <a:ln w="12700">
            <a:solidFill>
              <a:srgbClr val="F5F5F5"/>
            </a:solidFill>
            <a:prstDash val="solid"/>
          </a:ln>
        </p:spPr>
      </p:sp>
      <p:sp>
        <p:nvSpPr>
          <p:cNvPr id="13" name="Text 11"/>
          <p:cNvSpPr txBox="1"/>
          <p:nvPr/>
        </p:nvSpPr>
        <p:spPr>
          <a:xfrm>
            <a:off x="6766560" y="1097280"/>
            <a:ext cx="1874520" cy="731520"/>
          </a:xfrm>
          <a:prstGeom prst="rect">
            <a:avLst/>
          </a:prstGeom>
          <a:noFill/>
          <a:ln/>
        </p:spPr>
        <p:txBody>
          <a:bodyPr wrap="square" lIns="0" tIns="0" rIns="0" bIns="0" rtlCol="0" anchor="ctr"/>
          <a:lstStyle/>
          <a:p>
            <a:pPr algn="ctr" indent="0" marL="0">
              <a:buNone/>
            </a:pPr>
            <a:r>
              <a:rPr lang="en-US" sz="3600" b="1" dirty="0">
                <a:solidFill>
                  <a:srgbClr val="222222"/>
                </a:solidFill>
                <a:latin typeface="Arial" pitchFamily="34" charset="0"/>
                <a:ea typeface="Arial" pitchFamily="34" charset="-122"/>
                <a:cs typeface="Arial" pitchFamily="34" charset="-120"/>
              </a:rPr>
              <a:t>9.6 h</a:t>
            </a:r>
            <a:endParaRPr lang="en-US" sz="3600" dirty="0"/>
          </a:p>
        </p:txBody>
      </p:sp>
      <p:sp>
        <p:nvSpPr>
          <p:cNvPr id="14" name="Text 12"/>
          <p:cNvSpPr txBox="1"/>
          <p:nvPr/>
        </p:nvSpPr>
        <p:spPr>
          <a:xfrm>
            <a:off x="6766560" y="1783080"/>
            <a:ext cx="1874520" cy="411480"/>
          </a:xfrm>
          <a:prstGeom prst="rect">
            <a:avLst/>
          </a:prstGeom>
          <a:noFill/>
          <a:ln/>
        </p:spPr>
        <p:txBody>
          <a:bodyPr wrap="square" lIns="0" tIns="0" rIns="0" bIns="0" rtlCol="0" anchor="ctr"/>
          <a:lstStyle/>
          <a:p>
            <a:pPr algn="ctr" indent="0" marL="0">
              <a:buNone/>
            </a:pPr>
            <a:r>
              <a:rPr lang="en-US" sz="1300" dirty="0">
                <a:solidFill>
                  <a:srgbClr val="666666"/>
                </a:solidFill>
                <a:latin typeface="Arial" pitchFamily="34" charset="0"/>
                <a:ea typeface="Arial" pitchFamily="34" charset="-122"/>
                <a:cs typeface="Arial" pitchFamily="34" charset="-120"/>
              </a:rPr>
              <a:t>of eating</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2651760"/>
          <a:ext cx="2926080" cy="914400"/>
        </p:xfrm>
        <a:graphic>
          <a:graphicData uri="http://schemas.openxmlformats.org/drawingml/2006/table">
            <a:tbl>
              <a:tblPr/>
              <a:tblGrid>
                <a:gridCol w="1737360"/>
                <a:gridCol w="1188720"/>
              </a:tblGrid>
              <a:tr h="0">
                <a:tc>
                  <a:txBody>
                    <a:bodyPr/>
                    <a:lstStyle/>
                    <a:p>
                      <a:pPr algn="ctr" indent="0" marL="0">
                        <a:buNone/>
                      </a:pPr>
                      <a:r>
                        <a:rPr lang="en-US" sz="1100" b="1" dirty="0">
                          <a:solidFill>
                            <a:srgbClr val="222222"/>
                          </a:solidFill>
                          <a:latin typeface="Arial" pitchFamily="34" charset="0"/>
                          <a:ea typeface="Arial" pitchFamily="34" charset="-122"/>
                          <a:cs typeface="Arial" pitchFamily="34" charset="-120"/>
                        </a:rPr>
                        <a:t>Meal</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c>
                  <a:txBody>
                    <a:bodyPr/>
                    <a:lstStyle/>
                    <a:p>
                      <a:pPr algn="ctr" indent="0" marL="0">
                        <a:buNone/>
                      </a:pPr>
                      <a:r>
                        <a:rPr lang="en-US" sz="1100" b="1" dirty="0">
                          <a:solidFill>
                            <a:srgbClr val="222222"/>
                          </a:solidFill>
                          <a:latin typeface="Arial" pitchFamily="34" charset="0"/>
                          <a:ea typeface="Arial" pitchFamily="34" charset="-122"/>
                          <a:cs typeface="Arial" pitchFamily="34" charset="-120"/>
                        </a:rPr>
                        <a:t>Sessions</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Breakfast</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8</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Lunch</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18</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Dinner</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12</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Snack</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23</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6" name="Text 13"/>
          <p:cNvSpPr txBox="1"/>
          <p:nvPr/>
        </p:nvSpPr>
        <p:spPr>
          <a:xfrm>
            <a:off x="3749040" y="2651760"/>
            <a:ext cx="4937760" cy="2103120"/>
          </a:xfrm>
          <a:prstGeom prst="rect">
            <a:avLst/>
          </a:prstGeom>
          <a:noFill/>
          <a:ln/>
        </p:spPr>
        <p:txBody>
          <a:bodyPr wrap="square" rtlCol="0" anchor="t"/>
          <a:lstStyle/>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Up from 20 sessions (7.8 h): three times the data</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18 participants have two sessions; each test fold holds out a whole person, both sessions together</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Sessions run 2 to 55 minutes; eating share runs 0% to 86%</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dirty="0">
                <a:solidFill>
                  <a:srgbClr val="222222"/>
                </a:solidFill>
                <a:latin typeface="Arial" pitchFamily="34" charset="0"/>
                <a:ea typeface="Arial" pitchFamily="34" charset="-122"/>
                <a:cs typeface="Arial" pitchFamily="34" charset="-120"/>
              </a:rPr>
              <a:t>Key Finding: Time Series Beats the Spectrum</a:t>
            </a:r>
            <a:endParaRPr lang="en-US" sz="2800" dirty="0"/>
          </a:p>
        </p:txBody>
      </p:sp>
      <p:graphicFrame>
        <p:nvGraphicFramePr>
          <p:cNvPr id="3" name="Chart 0" descr=""/>
          <p:cNvGraphicFramePr/>
          <p:nvPr/>
        </p:nvGraphicFramePr>
        <p:xfrm>
          <a:off x="457200" y="914400"/>
          <a:ext cx="4937760" cy="38404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669280" y="1097280"/>
            <a:ext cx="3017520" cy="73152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81 → 32</a:t>
            </a:r>
            <a:endParaRPr lang="en-US" sz="4000" dirty="0"/>
          </a:p>
        </p:txBody>
      </p:sp>
      <p:sp>
        <p:nvSpPr>
          <p:cNvPr id="5" name="Text 2"/>
          <p:cNvSpPr txBox="1"/>
          <p:nvPr/>
        </p:nvSpPr>
        <p:spPr>
          <a:xfrm>
            <a:off x="5669280" y="1828800"/>
            <a:ext cx="3017520" cy="548640"/>
          </a:xfrm>
          <a:prstGeom prst="rect">
            <a:avLst/>
          </a:prstGeom>
          <a:noFill/>
          <a:ln/>
        </p:spPr>
        <p:txBody>
          <a:bodyPr wrap="square" lIns="0" tIns="0" rIns="0" bIns="0" rtlCol="0" anchor="ctr"/>
          <a:lstStyle/>
          <a:p>
            <a:pPr indent="0" marL="0">
              <a:buNone/>
            </a:pPr>
            <a:r>
              <a:rPr lang="en-US" sz="1300" dirty="0">
                <a:solidFill>
                  <a:srgbClr val="666666"/>
                </a:solidFill>
                <a:latin typeface="Arial" pitchFamily="34" charset="0"/>
                <a:ea typeface="Arial" pitchFamily="34" charset="-122"/>
                <a:cs typeface="Arial" pitchFamily="34" charset="-120"/>
              </a:rPr>
              <a:t>false alarms per hour of non-eating, spectrum → time series</a:t>
            </a:r>
            <a:endParaRPr lang="en-US" sz="1300" dirty="0"/>
          </a:p>
        </p:txBody>
      </p:sp>
      <p:sp>
        <p:nvSpPr>
          <p:cNvPr id="6" name="Text 3"/>
          <p:cNvSpPr txBox="1"/>
          <p:nvPr/>
        </p:nvSpPr>
        <p:spPr>
          <a:xfrm>
            <a:off x="5669280" y="2606040"/>
            <a:ext cx="3017520" cy="2011680"/>
          </a:xfrm>
          <a:prstGeom prst="rect">
            <a:avLst/>
          </a:prstGeom>
          <a:noFill/>
          <a:ln/>
        </p:spPr>
        <p:txBody>
          <a:bodyPr wrap="square" rtlCol="0" anchor="t"/>
          <a:lstStyle/>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Same model, only the input changed</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Time series wins in all 5 folds</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Replicates the 20-session result on three times the data</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dirty="0">
                <a:solidFill>
                  <a:srgbClr val="222222"/>
                </a:solidFill>
                <a:latin typeface="Arial" pitchFamily="34" charset="0"/>
                <a:ea typeface="Arial" pitchFamily="34" charset="-122"/>
                <a:cs typeface="Arial" pitchFamily="34" charset="-120"/>
              </a:rPr>
              <a:t>Training Experiments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2743200"/>
                <a:gridCol w="822960"/>
                <a:gridCol w="1005840"/>
                <a:gridCol w="914400"/>
                <a:gridCol w="1463040"/>
                <a:gridCol w="1280160"/>
              </a:tblGrid>
              <a:tr h="0">
                <a:tc>
                  <a:txBody>
                    <a:bodyPr/>
                    <a:lstStyle/>
                    <a:p>
                      <a:pPr algn="ctr" indent="0" marL="0">
                        <a:buNone/>
                      </a:pPr>
                      <a:r>
                        <a:rPr lang="en-US" sz="1100" b="1" dirty="0">
                          <a:solidFill>
                            <a:srgbClr val="222222"/>
                          </a:solidFill>
                          <a:latin typeface="Arial" pitchFamily="34" charset="0"/>
                          <a:ea typeface="Arial" pitchFamily="34" charset="-122"/>
                          <a:cs typeface="Arial" pitchFamily="34" charset="-120"/>
                        </a:rPr>
                        <a:t>Run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c>
                  <a:txBody>
                    <a:bodyPr/>
                    <a:lstStyle/>
                    <a:p>
                      <a:pPr algn="ctr" indent="0" marL="0">
                        <a:buNone/>
                      </a:pPr>
                      <a:r>
                        <a:rPr lang="en-US" sz="1100" b="1" dirty="0">
                          <a:solidFill>
                            <a:srgbClr val="222222"/>
                          </a:solidFill>
                          <a:latin typeface="Arial" pitchFamily="34" charset="0"/>
                          <a:ea typeface="Arial" pitchFamily="34" charset="-122"/>
                          <a:cs typeface="Arial" pitchFamily="34" charset="-120"/>
                        </a:rPr>
                        <a:t>F1</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c>
                  <a:txBody>
                    <a:bodyPr/>
                    <a:lstStyle/>
                    <a:p>
                      <a:pPr algn="ctr" indent="0" marL="0">
                        <a:buNone/>
                      </a:pPr>
                      <a:r>
                        <a:rPr lang="en-US" sz="1100" b="1" dirty="0">
                          <a:solidFill>
                            <a:srgbClr val="222222"/>
                          </a:solidFill>
                          <a:latin typeface="Arial" pitchFamily="34" charset="0"/>
                          <a:ea typeface="Arial" pitchFamily="34" charset="-122"/>
                          <a:cs typeface="Arial" pitchFamily="34" charset="-120"/>
                        </a:rPr>
                        <a:t>Accuracy</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c>
                  <a:txBody>
                    <a:bodyPr/>
                    <a:lstStyle/>
                    <a:p>
                      <a:pPr algn="ctr" indent="0" marL="0">
                        <a:buNone/>
                      </a:pPr>
                      <a:r>
                        <a:rPr lang="en-US" sz="1100" b="1" dirty="0">
                          <a:solidFill>
                            <a:srgbClr val="222222"/>
                          </a:solidFill>
                          <a:latin typeface="Arial" pitchFamily="34" charset="0"/>
                          <a:ea typeface="Arial" pitchFamily="34" charset="-122"/>
                          <a:cs typeface="Arial" pitchFamily="34" charset="-120"/>
                        </a:rPr>
                        <a:t>Recall</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c>
                  <a:txBody>
                    <a:bodyPr/>
                    <a:lstStyle/>
                    <a:p>
                      <a:pPr algn="ctr" indent="0" marL="0">
                        <a:buNone/>
                      </a:pPr>
                      <a:r>
                        <a:rPr lang="en-US" sz="1100" b="1" dirty="0">
                          <a:solidFill>
                            <a:srgbClr val="222222"/>
                          </a:solidFill>
                          <a:latin typeface="Arial" pitchFamily="34" charset="0"/>
                          <a:ea typeface="Arial" pitchFamily="34" charset="-122"/>
                          <a:cs typeface="Arial" pitchFamily="34" charset="-120"/>
                        </a:rPr>
                        <a:t>False alarms / h</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c>
                  <a:txBody>
                    <a:bodyPr/>
                    <a:lstStyle/>
                    <a:p>
                      <a:pPr algn="ctr" indent="0" marL="0">
                        <a:buNone/>
                      </a:pPr>
                      <a:r>
                        <a:rPr lang="en-US" sz="1100" b="1" dirty="0">
                          <a:solidFill>
                            <a:srgbClr val="222222"/>
                          </a:solidFill>
                          <a:latin typeface="Arial" pitchFamily="34" charset="0"/>
                          <a:ea typeface="Arial" pitchFamily="34" charset="-122"/>
                          <a:cs typeface="Arial" pitchFamily="34" charset="-120"/>
                        </a:rPr>
                        <a:t>Worst fold F1</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Default</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0.858</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0.891</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0.834</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32</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0.772</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Early stopping on AUC</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0.858</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0.891</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0.835</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33</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0.772</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AUC + learning rate 0.0003</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0.864</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0.893</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0.861</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39</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0.817</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AUC + augmentation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0.862</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0.893</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0.846</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34</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0.814</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Augmentation + learning rate 0.0003</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0.854</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0.886</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0.842</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39</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0.789</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2743200"/>
            <a:ext cx="8229600" cy="1737360"/>
          </a:xfrm>
          <a:prstGeom prst="rect">
            <a:avLst/>
          </a:prstGeom>
          <a:noFill/>
          <a:ln/>
        </p:spPr>
        <p:txBody>
          <a:bodyPr wrap="square" rtlCol="0" anchor="t"/>
          <a:lstStyle/>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Early stopping kept the epoch-1 model in 3 of 5 folds: on new people the model peaks almost immediately</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A lower learning rate moved the best epoch to 2-6 and lifted the weakest fold from 0.772 to 0.817</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All differences are within about 0.006 F1; to be confirmed with paired per-participant tests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dirty="0">
                <a:solidFill>
                  <a:srgbClr val="222222"/>
                </a:solidFill>
                <a:latin typeface="Arial" pitchFamily="34" charset="0"/>
                <a:ea typeface="Arial" pitchFamily="34" charset="-122"/>
                <a:cs typeface="Arial" pitchFamily="34" charset="-120"/>
              </a:rPr>
              <a:t>Reducing False Positives</a:t>
            </a:r>
            <a:endParaRPr lang="en-US" sz="2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4023360" cy="914400"/>
        </p:xfrm>
        <a:graphic>
          <a:graphicData uri="http://schemas.openxmlformats.org/drawingml/2006/table">
            <a:tbl>
              <a:tblPr/>
              <a:tblGrid>
                <a:gridCol w="1371600"/>
                <a:gridCol w="2651760"/>
              </a:tblGrid>
              <a:tr h="0">
                <a:tc>
                  <a:txBody>
                    <a:bodyPr/>
                    <a:lstStyle/>
                    <a:p>
                      <a:pPr algn="l" indent="0" marL="0">
                        <a:buNone/>
                      </a:pPr>
                      <a:r>
                        <a:rPr lang="en-US" sz="1100" b="1" dirty="0">
                          <a:solidFill>
                            <a:srgbClr val="222222"/>
                          </a:solidFill>
                          <a:latin typeface="Arial" pitchFamily="34" charset="0"/>
                          <a:ea typeface="Arial" pitchFamily="34" charset="-122"/>
                          <a:cs typeface="Arial" pitchFamily="34" charset="-120"/>
                        </a:rPr>
                        <a:t>Operating point</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c>
                  <a:txBody>
                    <a:bodyPr/>
                    <a:lstStyle/>
                    <a:p>
                      <a:pPr algn="l" indent="0" marL="0">
                        <a:buNone/>
                      </a:pPr>
                      <a:r>
                        <a:rPr lang="en-US" sz="1100" b="1" dirty="0">
                          <a:solidFill>
                            <a:srgbClr val="222222"/>
                          </a:solidFill>
                          <a:latin typeface="Arial" pitchFamily="34" charset="0"/>
                          <a:ea typeface="Arial" pitchFamily="34" charset="-122"/>
                          <a:cs typeface="Arial" pitchFamily="34" charset="-120"/>
                        </a:rPr>
                        <a:t>How the threshold is chosen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Now: best F1</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Balances false alarms and misses equally</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F0.5</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Counts a false alarm twice as costly as a miss</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False-alarm budget</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Catches as much eating as possible within N false alarms per hour</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2514600"/>
            <a:ext cx="4023360" cy="2194560"/>
          </a:xfrm>
          <a:prstGeom prst="rect">
            <a:avLst/>
          </a:prstGeom>
          <a:noFill/>
          <a:ln/>
        </p:spPr>
        <p:txBody>
          <a:bodyPr wrap="square" rtlCol="0" anchor="t"/>
          <a:lstStyle/>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Current model: 32 false alarms per hour of non-eating, precision 0.88</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Threshold always chosen on validation participants, never the test person</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No retraining needed to see the trade-off: the curve comes from saved predictions</a:t>
            </a:r>
            <a:endParaRPr lang="en-US" sz="1400" dirty="0"/>
          </a:p>
        </p:txBody>
      </p:sp>
      <p:sp>
        <p:nvSpPr>
          <p:cNvPr id="5" name="Shape 2"/>
          <p:cNvSpPr/>
          <p:nvPr/>
        </p:nvSpPr>
        <p:spPr>
          <a:xfrm>
            <a:off x="4754880" y="960120"/>
            <a:ext cx="3931920" cy="3749040"/>
          </a:xfrm>
          <a:prstGeom prst="rect">
            <a:avLst/>
          </a:prstGeom>
          <a:solidFill>
            <a:srgbClr val="FFFFFF"/>
          </a:solidFill>
          <a:ln w="9525">
            <a:solidFill>
              <a:srgbClr val="BFBFBF"/>
            </a:solidFill>
            <a:prstDash val="dash"/>
          </a:ln>
        </p:spPr>
      </p:sp>
      <p:sp>
        <p:nvSpPr>
          <p:cNvPr id="6" name="Text 3"/>
          <p:cNvSpPr txBox="1"/>
          <p:nvPr/>
        </p:nvSpPr>
        <p:spPr>
          <a:xfrm>
            <a:off x="4754880" y="2651760"/>
            <a:ext cx="3931920" cy="365760"/>
          </a:xfrm>
          <a:prstGeom prst="rect">
            <a:avLst/>
          </a:prstGeom>
          <a:noFill/>
          <a:ln/>
        </p:spPr>
        <p:txBody>
          <a:bodyPr wrap="square" lIns="0" tIns="0" rIns="0" bIns="0" rtlCol="0" anchor="ctr"/>
          <a:lstStyle/>
          <a:p>
            <a:pPr algn="ctr" indent="0" marL="0">
              <a:buNone/>
            </a:pPr>
            <a:r>
              <a:rPr lang="en-US" sz="1100" dirty="0">
                <a:solidFill>
                  <a:srgbClr val="666666"/>
                </a:solidFill>
                <a:latin typeface="Arial" pitchFamily="34" charset="0"/>
                <a:ea typeface="Arial" pitchFamily="34" charset="-122"/>
                <a:cs typeface="Arial" pitchFamily="34" charset="-120"/>
              </a:rPr>
              <a:t>Paste figures\operating_curve.png here</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dirty="0">
                <a:solidFill>
                  <a:srgbClr val="222222"/>
                </a:solidFill>
                <a:latin typeface="Arial" pitchFamily="34" charset="0"/>
                <a:ea typeface="Arial" pitchFamily="34" charset="-122"/>
                <a:cs typeface="Arial" pitchFamily="34" charset="-120"/>
              </a:rPr>
              <a:t>Where the Errors Are</a:t>
            </a:r>
            <a:endParaRPr lang="en-US" sz="2800" dirty="0"/>
          </a:p>
        </p:txBody>
      </p:sp>
      <p:graphicFrame>
        <p:nvGraphicFramePr>
          <p:cNvPr id="3" name="Chart 0" descr=""/>
          <p:cNvGraphicFramePr/>
          <p:nvPr/>
        </p:nvGraphicFramePr>
        <p:xfrm>
          <a:off x="457200" y="914400"/>
          <a:ext cx="4937760" cy="38404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669280" y="1005840"/>
            <a:ext cx="3017520" cy="3749040"/>
          </a:xfrm>
          <a:prstGeom prst="rect">
            <a:avLst/>
          </a:prstGeom>
          <a:noFill/>
          <a:ln/>
        </p:spPr>
        <p:txBody>
          <a:bodyPr wrap="square" rtlCol="0" anchor="t"/>
          <a:lstStyle/>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Same folds every run, so the same people are always the hardest</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Fold 5 is long lunches with little eating (20-31% of the session): recall drops</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Three participants are lowest in every run: AIM132097, AIM122571, AIM147560</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Spread between people is larger than any design change so far</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dirty="0">
                <a:solidFill>
                  <a:srgbClr val="222222"/>
                </a:solidFill>
                <a:latin typeface="Arial" pitchFamily="34" charset="0"/>
                <a:ea typeface="Arial" pitchFamily="34" charset="-122"/>
                <a:cs typeface="Arial" pitchFamily="34" charset="-120"/>
              </a:rPr>
              <a:t>Action Items from Last Meeting</a:t>
            </a:r>
            <a:endParaRPr lang="en-US" sz="2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3657600"/>
                <a:gridCol w="4572000"/>
              </a:tblGrid>
              <a:tr h="0">
                <a:tc>
                  <a:txBody>
                    <a:bodyPr/>
                    <a:lstStyle/>
                    <a:p>
                      <a:pPr algn="l" indent="0" marL="0">
                        <a:buNone/>
                      </a:pPr>
                      <a:r>
                        <a:rPr lang="en-US" sz="1100" b="1" dirty="0">
                          <a:solidFill>
                            <a:srgbClr val="222222"/>
                          </a:solidFill>
                          <a:latin typeface="Arial" pitchFamily="34" charset="0"/>
                          <a:ea typeface="Arial" pitchFamily="34" charset="-122"/>
                          <a:cs typeface="Arial" pitchFamily="34" charset="-120"/>
                        </a:rPr>
                        <a:t>Action item (9/23)</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c>
                  <a:txBody>
                    <a:bodyPr/>
                    <a:lstStyle/>
                    <a:p>
                      <a:pPr algn="l" indent="0" marL="0">
                        <a:buNone/>
                      </a:pPr>
                      <a:r>
                        <a:rPr lang="en-US" sz="1100" b="1" dirty="0">
                          <a:solidFill>
                            <a:srgbClr val="222222"/>
                          </a:solidFill>
                          <a:latin typeface="Arial" pitchFamily="34" charset="0"/>
                          <a:ea typeface="Arial" pitchFamily="34" charset="-122"/>
                          <a:cs typeface="Arial" pitchFamily="34" charset="-120"/>
                        </a:rPr>
                        <a:t>Status</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Connect the model to the literature review</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Done: every component mapped to a paper; review written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Explain the model, graphical representation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Done: architecture figure and full design table</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Leave-one-subject-out validation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Built in as the default; 43-fold run in progress</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Different sampling rates (e.g. 32 Hz)</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Implemented (128 / 64 / 32 / 16 Hz); next run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Detection window 4 s / 16 s</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Implemented (2-16 s sweep); next run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Weight of chew count vs detection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Implemented (0 to 1.0 sweep); next run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Look into transformers</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Implemented as an option; to run on the full dataset</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Add negative examples from other ETS studies</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Needs the data uploaded; to plan together</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Food-intake detection: lab meeting update</dc:title>
  <dc:subject>PptxGenJS Presentation</dc:subject>
  <dc:creator>PptxGenJS</dc:creator>
  <cp:lastModifiedBy>PptxGenJS</cp:lastModifiedBy>
  <cp:revision>1</cp:revision>
  <dcterms:created xsi:type="dcterms:W3CDTF">2026-09-30T06:20:39Z</dcterms:created>
  <dcterms:modified xsi:type="dcterms:W3CDTF">2026-09-30T06:20:39Z</dcterms:modified>
</cp:coreProperties>
</file>