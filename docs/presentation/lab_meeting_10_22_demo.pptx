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Bug: windows from 18 second sessions were scored twice (10,891 instead of 9,133). Fixed per session; F1 0.856 -&gt; 0.854.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Seed noise: 3 seeds give F1 0.844-0.858. The 5-participant gain comes from steadier thresholds for the hardest participants.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episode is a run of consecutive eating windows (8 s). With pauses up to 32 s merged: 92.8% detected, 1.7 false episodes per hour. Measured in meal sessions, not free living.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8 s second episode is a single stray window three minutes after the meal; a minimum episode length (e.g. 16 s) would drop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Talking alone did not cause false alarms: AIM132097 talks a lot and has 2 false-alarm windows. One participant per condition, so these are case studies, not general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74320"/>
            <a:ext cx="83210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7432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1"/>
                </a:solidFill>
              </a:rPr>
              <a:t>Project Updates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1188720"/>
            <a:ext cx="8046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2"/>
                </a:solidFill>
              </a:rPr>
              <a:t>Inference tool written and tested on real data (contract item due 11/04)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2"/>
                </a:solidFill>
              </a:rPr>
              <a:t>Evaluation bug found and fixed; all results re-scored, conclusions unchanged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2"/>
                </a:solidFill>
              </a:rPr>
              <a:t>Final configuration chosen: original model, threshold chosen on 5 validation participants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2"/>
                </a:solidFill>
              </a:rPr>
              <a:t>Looked at the weakest participants on video and raw signals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7432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1"/>
                </a:solidFill>
              </a:rPr>
              <a:t>Final Model and Results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11480" y="1051560"/>
            <a:ext cx="48463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  <a:prstDash val="dash"/>
          </a:ln>
        </p:spPr>
      </p:sp>
      <p:sp>
        <p:nvSpPr>
          <p:cNvPr id="4" name="Text 2"/>
          <p:cNvSpPr txBox="1"/>
          <p:nvPr/>
        </p:nvSpPr>
        <p:spPr>
          <a:xfrm>
            <a:off x="594360" y="1051560"/>
            <a:ext cx="448056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7F7F"/>
                </a:solidFill>
              </a:rPr>
              <a:t>Insert your per-participant F1 chart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F7F7F"/>
                </a:solidFill>
              </a:rPr>
              <a:t>figures\time_se_attnpool_chew0.2_w8_128hz_loso_seed9_stopauc_lr0.0003_participants.png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F7F7F"/>
                </a:solidFill>
              </a:rPr>
              <a:t>(the one regenerated from results_fixed)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532120" y="1188720"/>
            <a:ext cx="32004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Leave-one-out, 43 participants: F1 0.854, accuracy 0.887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Threshold chosen on 5 validation participants instead of 2: F1 0.861 (+0.008, p = 0.004, 3 seeds)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8 validation participants and a sequence model: no further gain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7432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1"/>
                </a:solidFill>
              </a:rPr>
              <a:t>Episode-Level Results</a:t>
            </a:r>
            <a:endParaRPr lang="en-US" sz="3200" dirty="0"/>
          </a:p>
        </p:txBody>
      </p:sp>
      <p:pic>
        <p:nvPicPr>
          <p:cNvPr id="3" name="Image 0" descr="Confusion matrix: 3,009 eating windows detected, 512 missed, 516 false alarms, 5,096 correct non-eat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005840"/>
            <a:ext cx="3429000" cy="3566160"/>
          </a:xfrm>
          <a:prstGeom prst="rect">
            <a:avLst/>
          </a:prstGeom>
        </p:spPr>
      </p:pic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0" y="1097280"/>
          <a:ext cx="4617720" cy="914400"/>
        </p:xfrm>
        <a:graphic>
          <a:graphicData uri="http://schemas.openxmlformats.org/drawingml/2006/table">
            <a:tbl>
              <a:tblPr/>
              <a:tblGrid>
                <a:gridCol w="3337560"/>
                <a:gridCol w="12801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 eating episode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Result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Eating episodes detected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89.5%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Episodes of 32 s or longer detected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99–100%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Median delay to first detection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False episodes per hour (away from meals)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8.9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Episode precision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88.8%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114800" y="3474720"/>
            <a:ext cx="4617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Left: 8 s windows. Right: whole eating episodes, the way a user would experience the device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75% of false-alarm windows sit right next to a real meal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7432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1"/>
                </a:solidFill>
              </a:rPr>
              <a:t>Inference Tool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11480" y="1097280"/>
            <a:ext cx="1783080" cy="822960"/>
          </a:xfrm>
          <a:prstGeom prst="roundRect">
            <a:avLst>
              <a:gd name="adj" fmla="val 8889"/>
            </a:avLst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11480" y="109728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Raw AIM-2 recording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21992" y="1508760"/>
            <a:ext cx="292608" cy="0"/>
          </a:xfrm>
          <a:prstGeom prst="line">
            <a:avLst/>
          </a:prstGeom>
          <a:noFill/>
          <a:ln w="19050">
            <a:solidFill>
              <a:srgbClr val="7F7F7F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2542032" y="1097280"/>
            <a:ext cx="1783080" cy="822960"/>
          </a:xfrm>
          <a:prstGeom prst="roundRect">
            <a:avLst>
              <a:gd name="adj" fmla="val 8889"/>
            </a:avLst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542032" y="109728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8 s windows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52544" y="1508760"/>
            <a:ext cx="292608" cy="0"/>
          </a:xfrm>
          <a:prstGeom prst="line">
            <a:avLst/>
          </a:prstGeom>
          <a:noFill/>
          <a:ln w="19050">
            <a:solidFill>
              <a:srgbClr val="7F7F7F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672584" y="1097280"/>
            <a:ext cx="1783080" cy="822960"/>
          </a:xfrm>
          <a:prstGeom prst="roundRect">
            <a:avLst>
              <a:gd name="adj" fmla="val 8889"/>
            </a:avLst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72584" y="109728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Model: probability of eating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83096" y="1508760"/>
            <a:ext cx="292608" cy="0"/>
          </a:xfrm>
          <a:prstGeom prst="line">
            <a:avLst/>
          </a:prstGeom>
          <a:noFill/>
          <a:ln w="19050">
            <a:solidFill>
              <a:srgbClr val="7F7F7F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803136" y="1097280"/>
            <a:ext cx="1783080" cy="822960"/>
          </a:xfrm>
          <a:prstGeom prst="roundRect">
            <a:avLst>
              <a:gd name="adj" fmla="val 8889"/>
            </a:avLst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03136" y="109728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Eating episodes with start and end times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11480" y="219456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Example: AIM130163, snack session (27 min recording)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606040"/>
          <a:ext cx="83210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737360"/>
                <a:gridCol w="1737360"/>
                <a:gridCol w="28346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Detected episode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Duration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20:31:58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20:44:22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12.4 min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20:47:42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20:47:50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 s (one stray window)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Text 13"/>
          <p:cNvSpPr txBox="1"/>
          <p:nvPr/>
        </p:nvSpPr>
        <p:spPr>
          <a:xfrm>
            <a:off x="411480" y="384048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The detected meal covers 98.6% of the annotated eating (F1 0.935)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411480" y="425196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7F7F7F"/>
                </a:solidFill>
              </a:rPr>
              <a:t>Scripts: train_final_model.py and detect_eating.py. This participant was in the training set, so this demonstrates the tool, not performance on new people.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7432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1"/>
                </a:solidFill>
              </a:rPr>
              <a:t>Why the Weakest Participants Score Low</a:t>
            </a:r>
            <a:endParaRPr lang="en-US" sz="3200" dirty="0"/>
          </a:p>
        </p:txBody>
      </p:sp>
      <p:pic>
        <p:nvPicPr>
          <p:cNvPr id="3" name="Image 0" descr="AIM147560: optical signal nearly flat during eating; model probability peaks only during the bag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005840"/>
            <a:ext cx="4937760" cy="293522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11480" y="39776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7F7F7F"/>
                </a:solidFill>
              </a:rPr>
              <a:t>AIM147560: optical signal and model probability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577840" y="1051560"/>
            <a:ext cx="31546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AIM147560 (0.45): soft food. Optical signal nearly flat; the model only fired (0.96) on the bagel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AIM132097 (0.55): sensor and model track his chewing, but bouts last ~4 s and his fold threshold is strict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AIM112400 lunch: eating broken up by conversation (105 bouts)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Real-world conditions, not missed chewing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7432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1"/>
                </a:solidFill>
              </a:rPr>
              <a:t>Next Steps and Questions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1143000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2"/>
                </a:solidFill>
              </a:rPr>
              <a:t>Human agreement: Kenzy and I agree at F1 0.91 on 8 s windows (one snack session), close to the ceiling for any model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2"/>
                </a:solidFill>
              </a:rPr>
              <a:t>Second independent annotation of the difficult sessions, to measure agreement where the model struggles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2"/>
                </a:solidFill>
              </a:rPr>
              <a:t>Boundary-tolerance metric, to compare with Siavash's F1 ±1 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2"/>
                </a:solidFill>
              </a:rPr>
              <a:t>FCN and ResNet baselines; paper draft due 12/02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2"/>
                </a:solidFill>
              </a:rPr>
              <a:t>Question: is food type recorded for each session?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ab Meeting">
  <a:themeElements>
    <a:clrScheme name="Lab Meeting">
      <a:dk1>
        <a:srgbClr val="000000"/>
      </a:dk1>
      <a:lt1>
        <a:srgbClr val="FFFFFF"/>
      </a:lt1>
      <a:dk2>
        <a:srgbClr val="595959"/>
      </a:dk2>
      <a:lt2>
        <a:srgbClr val="F2F2F2"/>
      </a:lt2>
      <a:accent1>
        <a:srgbClr val="595959"/>
      </a:accent1>
      <a:accent2>
        <a:srgbClr val="7F7F7F"/>
      </a:accent2>
      <a:accent3>
        <a:srgbClr val="A6A6A6"/>
      </a:accent3>
      <a:accent4>
        <a:srgbClr val="333333"/>
      </a:accent4>
      <a:accent5>
        <a:srgbClr val="BFBFBF"/>
      </a:accent5>
      <a:accent6>
        <a:srgbClr val="262626"/>
      </a:accent6>
      <a:hlink>
        <a:srgbClr val="0563C1"/>
      </a:hlink>
      <a:folHlink>
        <a:srgbClr val="954F72"/>
      </a:folHlink>
    </a:clrScheme>
    <a:fontScheme name="Lab Meeting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meeting 10/22</dc:title>
  <dc:subject>PptxGenJS Presentation</dc:subject>
  <dc:creator>PptxGenJS</dc:creator>
  <cp:lastModifiedBy>PptxGenJS</cp:lastModifiedBy>
  <cp:revision>1</cp:revision>
  <dcterms:created xsi:type="dcterms:W3CDTF">2026-10-21T05:55:03Z</dcterms:created>
  <dcterms:modified xsi:type="dcterms:W3CDTF">2026-10-21T05:55:03Z</dcterms:modified>
</cp:coreProperties>
</file>